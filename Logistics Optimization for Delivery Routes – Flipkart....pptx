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4kam" initials="k" lastIdx="1" clrIdx="0">
    <p:extLst>
      <p:ext uri="{19B8F6BF-5375-455C-9EA6-DF929625EA0E}">
        <p15:presenceInfo xmlns:p15="http://schemas.microsoft.com/office/powerpoint/2012/main" userId="000ba1c4f1f3c30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16" autoAdjust="0"/>
    <p:restoredTop sz="95013" autoAdjust="0"/>
  </p:normalViewPr>
  <p:slideViewPr>
    <p:cSldViewPr snapToGrid="0">
      <p:cViewPr varScale="1">
        <p:scale>
          <a:sx n="82" d="100"/>
          <a:sy n="82" d="100"/>
        </p:scale>
        <p:origin x="74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Delayed Routes</a:t>
            </a:r>
          </a:p>
        </c:rich>
      </c:tx>
      <c:layout>
        <c:manualLayout>
          <c:xMode val="edge"/>
          <c:yMode val="edge"/>
          <c:x val="0.31818557240297057"/>
          <c:y val="2.043369635591573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5286248189593891"/>
          <c:y val="0.22714386480680337"/>
          <c:w val="0.53030887765145218"/>
          <c:h val="0.5277145280684976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pattFill prst="narVert">
              <a:fgClr>
                <a:schemeClr val="accent1"/>
              </a:fgClr>
              <a:bgClr>
                <a:schemeClr val="accent1">
                  <a:lumMod val="20000"/>
                  <a:lumOff val="80000"/>
                </a:schemeClr>
              </a:bgClr>
            </a:pattFill>
            <a:ln>
              <a:noFill/>
            </a:ln>
            <a:effectLst>
              <a:innerShdw blurRad="114300">
                <a:schemeClr val="accent1"/>
              </a:inn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2"/>
                <c:pt idx="0">
                  <c:v>RT_13</c:v>
                </c:pt>
                <c:pt idx="1">
                  <c:v>RT_05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1.0900000000000001</c:v>
                </c:pt>
                <c:pt idx="1">
                  <c:v>0.65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A8-41BF-85AB-E3E5ABEC422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pattFill prst="narVert">
              <a:fgClr>
                <a:schemeClr val="accent2"/>
              </a:fgClr>
              <a:bgClr>
                <a:schemeClr val="accent2">
                  <a:lumMod val="20000"/>
                  <a:lumOff val="80000"/>
                </a:schemeClr>
              </a:bgClr>
            </a:pattFill>
            <a:ln>
              <a:noFill/>
            </a:ln>
            <a:effectLst>
              <a:innerShdw blurRad="114300">
                <a:schemeClr val="accent2"/>
              </a:inn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2"/>
                <c:pt idx="0">
                  <c:v>RT_13</c:v>
                </c:pt>
                <c:pt idx="1">
                  <c:v>RT_05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79A8-41BF-85AB-E3E5ABEC422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pattFill prst="narVert">
              <a:fgClr>
                <a:schemeClr val="accent3"/>
              </a:fgClr>
              <a:bgClr>
                <a:schemeClr val="accent3">
                  <a:lumMod val="20000"/>
                  <a:lumOff val="80000"/>
                </a:schemeClr>
              </a:bgClr>
            </a:pattFill>
            <a:ln>
              <a:noFill/>
            </a:ln>
            <a:effectLst>
              <a:innerShdw blurRad="114300">
                <a:schemeClr val="accent3"/>
              </a:inn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2"/>
                <c:pt idx="0">
                  <c:v>RT_13</c:v>
                </c:pt>
                <c:pt idx="1">
                  <c:v>RT_05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79A8-41BF-85AB-E3E5ABEC4220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27"/>
        <c:overlap val="-48"/>
        <c:axId val="1403872720"/>
        <c:axId val="1794591488"/>
      </c:barChart>
      <c:catAx>
        <c:axId val="1403872720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Route_ID</a:t>
                </a:r>
              </a:p>
            </c:rich>
          </c:tx>
          <c:layout>
            <c:manualLayout>
              <c:xMode val="edge"/>
              <c:yMode val="edge"/>
              <c:x val="3.6763262585293138E-2"/>
              <c:y val="0.3294647481280520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4591488"/>
        <c:crosses val="autoZero"/>
        <c:auto val="1"/>
        <c:lblAlgn val="ctr"/>
        <c:lblOffset val="100"/>
        <c:noMultiLvlLbl val="0"/>
      </c:catAx>
      <c:valAx>
        <c:axId val="179459148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AVG_Delay_Days</a:t>
                </a:r>
              </a:p>
            </c:rich>
          </c:tx>
          <c:layout>
            <c:manualLayout>
              <c:xMode val="edge"/>
              <c:yMode val="edge"/>
              <c:x val="0.36472314312422832"/>
              <c:y val="0.9064842318310162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387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Vert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narVert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5-01T00:51:45.490" idx="1">
    <p:pos x="10" y="10"/>
    <p:text/>
    <p:extLst>
      <p:ext uri="{C676402C-5697-4E1C-873F-D02D1690AC5C}">
        <p15:threadingInfo xmlns:p15="http://schemas.microsoft.com/office/powerpoint/2012/main" timeZoneBias="-33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15951-233B-486D-A271-3B75CFE14D10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9572B-5F51-4AE0-AA68-06B08B5DAE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4699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15951-233B-486D-A271-3B75CFE14D10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9572B-5F51-4AE0-AA68-06B08B5DAE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2411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15951-233B-486D-A271-3B75CFE14D10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9572B-5F51-4AE0-AA68-06B08B5DAE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4278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15951-233B-486D-A271-3B75CFE14D10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9572B-5F51-4AE0-AA68-06B08B5DAE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2304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15951-233B-486D-A271-3B75CFE14D10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9572B-5F51-4AE0-AA68-06B08B5DAE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1914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15951-233B-486D-A271-3B75CFE14D10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9572B-5F51-4AE0-AA68-06B08B5DAE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4020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15951-233B-486D-A271-3B75CFE14D10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9572B-5F51-4AE0-AA68-06B08B5DAE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394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15951-233B-486D-A271-3B75CFE14D10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9572B-5F51-4AE0-AA68-06B08B5DAE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8927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15951-233B-486D-A271-3B75CFE14D10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9572B-5F51-4AE0-AA68-06B08B5DAE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6004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309D6ACD-D4F7-4FFA-8673-A5663632D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0329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15951-233B-486D-A271-3B75CFE14D10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9572B-5F51-4AE0-AA68-06B08B5DAE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6709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15951-233B-486D-A271-3B75CFE14D10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9572B-5F51-4AE0-AA68-06B08B5DAEF4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398531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15951-233B-486D-A271-3B75CFE14D10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9572B-5F51-4AE0-AA68-06B08B5DAE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54266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15951-233B-486D-A271-3B75CFE14D10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9572B-5F51-4AE0-AA68-06B08B5DAE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2525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15951-233B-486D-A271-3B75CFE14D10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9572B-5F51-4AE0-AA68-06B08B5DAE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3755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15951-233B-486D-A271-3B75CFE14D10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9572B-5F51-4AE0-AA68-06B08B5DAE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27373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15951-233B-486D-A271-3B75CFE14D10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9572B-5F51-4AE0-AA68-06B08B5DAE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3835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32815951-233B-486D-A271-3B75CFE14D10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D9572B-5F51-4AE0-AA68-06B08B5DAE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19822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A97DA-1734-45E1-A9B5-AADD05D264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0269" y="513184"/>
            <a:ext cx="8825658" cy="2202024"/>
          </a:xfrm>
        </p:spPr>
        <p:txBody>
          <a:bodyPr/>
          <a:lstStyle/>
          <a:p>
            <a:r>
              <a:rPr lang="en-US" sz="4800" b="1" kern="0" spc="400" dirty="0">
                <a:solidFill>
                  <a:srgbClr val="FFC000"/>
                </a:solidFill>
              </a:rPr>
              <a:t>FLIPKART LOGISTICS</a:t>
            </a:r>
            <a:br>
              <a:rPr lang="en-US" sz="4800" b="1" kern="0" spc="400" dirty="0">
                <a:solidFill>
                  <a:srgbClr val="FFFF00"/>
                </a:solidFill>
              </a:rPr>
            </a:br>
            <a:r>
              <a:rPr lang="en-US" sz="2800" kern="0" spc="200" dirty="0">
                <a:solidFill>
                  <a:srgbClr val="90CAF9"/>
                </a:solidFill>
              </a:rPr>
              <a:t>OPTIMIZATION FOR DELIVERY ROUTES</a:t>
            </a:r>
            <a:br>
              <a:rPr lang="en-US" sz="4800" dirty="0"/>
            </a:br>
            <a:endParaRPr lang="en-IN" sz="4800" dirty="0">
              <a:solidFill>
                <a:srgbClr val="FFFF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5A5FE6-E542-4C9C-8FF3-4AC4BCE53F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5110" y="5996580"/>
            <a:ext cx="3806890" cy="861420"/>
          </a:xfrm>
        </p:spPr>
        <p:txBody>
          <a:bodyPr/>
          <a:lstStyle/>
          <a:p>
            <a:r>
              <a:rPr lang="en-IN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BY- KAMLESH KUMAR THAKUR</a:t>
            </a:r>
          </a:p>
          <a:p>
            <a:endParaRPr lang="en-IN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5" name="Graphic 4" descr="Truck">
            <a:extLst>
              <a:ext uri="{FF2B5EF4-FFF2-40B4-BE49-F238E27FC236}">
                <a16:creationId xmlns:a16="http://schemas.microsoft.com/office/drawing/2014/main" id="{6A50E27C-C2D2-44B0-B1A7-386881197F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75166" y="1945433"/>
            <a:ext cx="2761861" cy="914400"/>
          </a:xfrm>
          <a:prstGeom prst="rect">
            <a:avLst/>
          </a:prstGeom>
        </p:spPr>
      </p:pic>
      <p:pic>
        <p:nvPicPr>
          <p:cNvPr id="7" name="Graphic 6" descr="Dump truck">
            <a:extLst>
              <a:ext uri="{FF2B5EF4-FFF2-40B4-BE49-F238E27FC236}">
                <a16:creationId xmlns:a16="http://schemas.microsoft.com/office/drawing/2014/main" id="{1ED2175C-2612-4D82-B3E7-A5B5F0B6C1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20269" y="1902185"/>
            <a:ext cx="3635829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7D1EC92-BFEF-4F75-8AE2-D8CE6F835FCF}"/>
              </a:ext>
            </a:extLst>
          </p:cNvPr>
          <p:cNvSpPr/>
          <p:nvPr/>
        </p:nvSpPr>
        <p:spPr>
          <a:xfrm>
            <a:off x="1434873" y="296121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i="1" dirty="0">
                <a:solidFill>
                  <a:srgbClr val="B0C4DE"/>
                </a:solidFill>
              </a:rPr>
              <a:t>SQL-driven analytics to reduce delays, optimize routes &amp; improve agent efficiency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69F1AF-AEF8-48A3-83E5-0D0937E1F072}"/>
              </a:ext>
            </a:extLst>
          </p:cNvPr>
          <p:cNvSpPr/>
          <p:nvPr/>
        </p:nvSpPr>
        <p:spPr>
          <a:xfrm>
            <a:off x="939282" y="399816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59E0B"/>
                </a:solidFill>
              </a:rPr>
              <a:t>Dataset: </a:t>
            </a:r>
            <a:r>
              <a:rPr lang="en-US" dirty="0">
                <a:solidFill>
                  <a:srgbClr val="FFFFFF"/>
                </a:solidFill>
              </a:rPr>
              <a:t>300 Orders  |  20 Routes  |  10 Warehouses  |  50 Agents  |  999 Checkpoints</a:t>
            </a:r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277261-D6F7-424B-9A17-1815876E9680}"/>
              </a:ext>
            </a:extLst>
          </p:cNvPr>
          <p:cNvSpPr/>
          <p:nvPr/>
        </p:nvSpPr>
        <p:spPr>
          <a:xfrm>
            <a:off x="939282" y="4861449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59E0B"/>
                </a:solidFill>
              </a:rPr>
              <a:t>Tool: </a:t>
            </a:r>
            <a:r>
              <a:rPr lang="en-US" dirty="0">
                <a:solidFill>
                  <a:srgbClr val="FFFFFF"/>
                </a:solidFill>
              </a:rPr>
              <a:t>MySQL Workbench  |  </a:t>
            </a:r>
            <a:r>
              <a:rPr lang="en-US" b="1" dirty="0">
                <a:solidFill>
                  <a:srgbClr val="F59E0B"/>
                </a:solidFill>
              </a:rPr>
              <a:t>Tasks: </a:t>
            </a:r>
            <a:r>
              <a:rPr lang="en-US" dirty="0">
                <a:solidFill>
                  <a:srgbClr val="FFFFFF"/>
                </a:solidFill>
              </a:rPr>
              <a:t>Data Cleaning · Delay Analysis · Route Optimization · Warehouse · Agent · KPI Reporting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1207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720F8-2CE0-468A-9396-AB738AC8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81560"/>
          </a:xfrm>
        </p:spPr>
        <p:txBody>
          <a:bodyPr/>
          <a:lstStyle/>
          <a:p>
            <a:r>
              <a:rPr lang="en-US" sz="4400" b="1" dirty="0">
                <a:solidFill>
                  <a:srgbClr val="FFFF00"/>
                </a:solidFill>
              </a:rPr>
              <a:t>PROJECT OVERVIEW</a:t>
            </a:r>
            <a:endParaRPr lang="en-US" sz="4400" dirty="0">
              <a:solidFill>
                <a:srgbClr val="FFFF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B21B3-1F7E-4F0C-A496-6922CB1646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951" y="2707437"/>
            <a:ext cx="5719665" cy="1286065"/>
          </a:xfrm>
        </p:spPr>
        <p:txBody>
          <a:bodyPr>
            <a:normAutofit fontScale="92500" lnSpcReduction="10000"/>
          </a:bodyPr>
          <a:lstStyle/>
          <a:p>
            <a:endParaRPr lang="en-IN" dirty="0"/>
          </a:p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highlight>
                  <a:srgbClr val="00FFFF"/>
                </a:highlight>
              </a:rPr>
              <a:t>Rising order volumes during festive seasons cause delays, route inefficiencies, and traffic disruptions affecting customer satisfaction</a:t>
            </a:r>
            <a:r>
              <a:rPr lang="en-US" dirty="0">
                <a:solidFill>
                  <a:srgbClr val="1E293B"/>
                </a:solidFill>
              </a:rPr>
              <a:t>.</a:t>
            </a:r>
            <a:endParaRPr lang="en-US" dirty="0"/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736EF6-5B7F-46DF-B23A-05C9B7360DA9}"/>
              </a:ext>
            </a:extLst>
          </p:cNvPr>
          <p:cNvSpPr/>
          <p:nvPr/>
        </p:nvSpPr>
        <p:spPr>
          <a:xfrm>
            <a:off x="223934" y="2135924"/>
            <a:ext cx="43830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Challenge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BE01AC-389B-4B66-BA95-AEAD239743B4}"/>
              </a:ext>
            </a:extLst>
          </p:cNvPr>
          <p:cNvSpPr/>
          <p:nvPr/>
        </p:nvSpPr>
        <p:spPr>
          <a:xfrm>
            <a:off x="7162803" y="1975371"/>
            <a:ext cx="41552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Objective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AA49FE-5306-4971-B073-FE7FFBD081EE}"/>
              </a:ext>
            </a:extLst>
          </p:cNvPr>
          <p:cNvSpPr/>
          <p:nvPr/>
        </p:nvSpPr>
        <p:spPr>
          <a:xfrm>
            <a:off x="6192418" y="2707438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1E293B"/>
                </a:solidFill>
                <a:highlight>
                  <a:srgbClr val="00FFFF"/>
                </a:highlight>
              </a:rPr>
              <a:t>Build a SQL-driven analytics system to analyze delays, optimize routes, and enhance shipment &amp; agent efficiency using data-driven insights.</a:t>
            </a:r>
            <a:endParaRPr lang="en-US" dirty="0">
              <a:highlight>
                <a:srgbClr val="00FFFF"/>
              </a:highligh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280AA0-A154-45B9-B4E3-183E72B75E15}"/>
              </a:ext>
            </a:extLst>
          </p:cNvPr>
          <p:cNvSpPr/>
          <p:nvPr/>
        </p:nvSpPr>
        <p:spPr>
          <a:xfrm>
            <a:off x="223934" y="4171570"/>
            <a:ext cx="47119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Approach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B3F3FA-8AB4-4AEC-99D8-66CA5E5C33E7}"/>
              </a:ext>
            </a:extLst>
          </p:cNvPr>
          <p:cNvSpPr/>
          <p:nvPr/>
        </p:nvSpPr>
        <p:spPr>
          <a:xfrm>
            <a:off x="167951" y="4718970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1E293B"/>
                </a:solidFill>
                <a:highlight>
                  <a:srgbClr val="00FFFF"/>
                </a:highlight>
              </a:rPr>
              <a:t>Leverage 5 relational tables (Orders, Routes, Warehouses, Agents, Tracking) with SQL queries, CTEs, window functions and aggregations.</a:t>
            </a:r>
            <a:endParaRPr lang="en-IN" dirty="0">
              <a:highlight>
                <a:srgbClr val="00FFFF"/>
              </a:highligh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370AA5-FB26-4B96-A508-D21FB0ACD84C}"/>
              </a:ext>
            </a:extLst>
          </p:cNvPr>
          <p:cNvSpPr/>
          <p:nvPr/>
        </p:nvSpPr>
        <p:spPr>
          <a:xfrm>
            <a:off x="7162803" y="3990203"/>
            <a:ext cx="40899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Outcome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F77580-3104-4C60-ACAE-F6AD5DA9302E}"/>
              </a:ext>
            </a:extLst>
          </p:cNvPr>
          <p:cNvSpPr/>
          <p:nvPr/>
        </p:nvSpPr>
        <p:spPr>
          <a:xfrm>
            <a:off x="6630955" y="4540902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1E293B"/>
                </a:solidFill>
                <a:highlight>
                  <a:srgbClr val="00FFFF"/>
                </a:highlight>
              </a:rPr>
              <a:t>Actionable recommendations on route optimization, warehouse bottlenecks, agent training and KPI dashboards for Ekart Logistics</a:t>
            </a:r>
            <a:r>
              <a:rPr lang="en-US" dirty="0">
                <a:solidFill>
                  <a:srgbClr val="1E293B"/>
                </a:solidFill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8791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31340-61DB-4896-B178-F33FADCAE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B0F0"/>
                </a:solidFill>
              </a:rPr>
              <a:t>Data Cleaning &amp;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0A745-83BF-4E48-B0AF-F5F0173D8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757" y="1779129"/>
            <a:ext cx="4925047" cy="2027762"/>
          </a:xfrm>
        </p:spPr>
        <p:txBody>
          <a:bodyPr>
            <a:normAutofit fontScale="85000" lnSpcReduction="10000"/>
          </a:bodyPr>
          <a:lstStyle/>
          <a:p>
            <a:r>
              <a:rPr lang="en-IN" dirty="0"/>
              <a:t>No duplicate records</a:t>
            </a:r>
          </a:p>
          <a:p>
            <a:r>
              <a:rPr lang="en-IN" dirty="0"/>
              <a:t>Converted data types</a:t>
            </a:r>
          </a:p>
          <a:p>
            <a:r>
              <a:rPr lang="en-IN" dirty="0"/>
              <a:t>Date format already standardized</a:t>
            </a:r>
          </a:p>
          <a:p>
            <a:r>
              <a:rPr lang="en-US" dirty="0"/>
              <a:t>No null values in Traffic_Delay_Min</a:t>
            </a:r>
            <a:endParaRPr lang="en-IN" dirty="0"/>
          </a:p>
          <a:p>
            <a:r>
              <a:rPr lang="en-IN" dirty="0"/>
              <a:t>No records found where Actual_Delivery_Date is before Order_Date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FCB741-6ED8-46FA-A739-F899239D1ACD}"/>
              </a:ext>
            </a:extLst>
          </p:cNvPr>
          <p:cNvSpPr txBox="1"/>
          <p:nvPr/>
        </p:nvSpPr>
        <p:spPr>
          <a:xfrm flipH="1">
            <a:off x="7604448" y="1667703"/>
            <a:ext cx="4489880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ighlight>
                  <a:srgbClr val="0000FF"/>
                </a:highlight>
              </a:rPr>
              <a:t>QUERIES USED</a:t>
            </a:r>
          </a:p>
          <a:p>
            <a:endParaRPr lang="en-IN" dirty="0"/>
          </a:p>
          <a:p>
            <a:r>
              <a:rPr lang="en-IN" sz="1400" dirty="0"/>
              <a:t>1. SELECT Order_ID, COUNT(*) AS cnt</a:t>
            </a:r>
          </a:p>
          <a:p>
            <a:r>
              <a:rPr lang="en-IN" sz="1400" dirty="0"/>
              <a:t>FROM orders_table</a:t>
            </a:r>
          </a:p>
          <a:p>
            <a:r>
              <a:rPr lang="en-IN" sz="1400" dirty="0"/>
              <a:t>GROUP BY Order_ID</a:t>
            </a:r>
          </a:p>
          <a:p>
            <a:r>
              <a:rPr lang="en-IN" sz="1400" dirty="0"/>
              <a:t>HAVING COUNT(*) &gt; 1;</a:t>
            </a:r>
          </a:p>
          <a:p>
            <a:endParaRPr lang="en-IN" sz="1400" dirty="0"/>
          </a:p>
          <a:p>
            <a:r>
              <a:rPr lang="en-IN" sz="1400" dirty="0"/>
              <a:t>2. ALTER TABLE orders_table</a:t>
            </a:r>
          </a:p>
          <a:p>
            <a:r>
              <a:rPr lang="en-IN" sz="1400" dirty="0"/>
              <a:t>MODIFY Order_Value DECIMAL(10,2);</a:t>
            </a:r>
          </a:p>
          <a:p>
            <a:endParaRPr lang="en-IN" sz="1400" dirty="0"/>
          </a:p>
          <a:p>
            <a:r>
              <a:rPr lang="en-IN" sz="1400" dirty="0"/>
              <a:t>3. SELECT * FROM orders_table</a:t>
            </a:r>
          </a:p>
          <a:p>
            <a:r>
              <a:rPr lang="en-IN" sz="1400" dirty="0"/>
              <a:t>WHERE Actual_Delivery_Date &lt; Order_Date;</a:t>
            </a:r>
          </a:p>
          <a:p>
            <a:endParaRPr lang="en-IN" sz="1400" dirty="0"/>
          </a:p>
          <a:p>
            <a:endParaRPr lang="en-IN" sz="1400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3DB91F-7A8E-4CEC-AC81-6264EA00712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14700" y="4217438"/>
            <a:ext cx="2771192" cy="10235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FB8A791-6037-49FD-BD58-E2133AF5747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14701" y="5345679"/>
            <a:ext cx="2771192" cy="829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406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EF8A5-82F3-441D-80DD-DC3DEB0CD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396734"/>
            <a:ext cx="9404723" cy="1400530"/>
          </a:xfrm>
        </p:spPr>
        <p:txBody>
          <a:bodyPr/>
          <a:lstStyle/>
          <a:p>
            <a:r>
              <a:rPr lang="en-IN" dirty="0">
                <a:solidFill>
                  <a:srgbClr val="00B0F0"/>
                </a:solidFill>
              </a:rPr>
              <a:t>Task 2:Delivery Delay Calculation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B54F4F-9ECA-4AD1-BC8A-D528BAAF1FC6}"/>
              </a:ext>
            </a:extLst>
          </p:cNvPr>
          <p:cNvSpPr txBox="1"/>
          <p:nvPr/>
        </p:nvSpPr>
        <p:spPr>
          <a:xfrm flipH="1">
            <a:off x="289249" y="3001420"/>
            <a:ext cx="386287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Query-</a:t>
            </a:r>
          </a:p>
          <a:p>
            <a:r>
              <a:rPr lang="en-IN" sz="1400" dirty="0"/>
              <a:t>SELECT Order_ID,</a:t>
            </a:r>
          </a:p>
          <a:p>
            <a:r>
              <a:rPr lang="en-IN" sz="1400" dirty="0"/>
              <a:t>  Expected_Delivery_Date,</a:t>
            </a:r>
          </a:p>
          <a:p>
            <a:r>
              <a:rPr lang="en-IN" sz="1400" dirty="0"/>
              <a:t>   Actual_Delivery_Date,</a:t>
            </a:r>
          </a:p>
          <a:p>
            <a:r>
              <a:rPr lang="en-IN" sz="1400" dirty="0"/>
              <a:t>  DATEDIFF(Actual_Delivery_Date, Expected_Delivery_Date) AS Delay_Days</a:t>
            </a:r>
          </a:p>
          <a:p>
            <a:r>
              <a:rPr lang="en-IN" sz="1400" dirty="0"/>
              <a:t>FROM orders_table;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16586B1-6323-40A0-961A-3808109EB6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1646868"/>
              </p:ext>
            </p:extLst>
          </p:nvPr>
        </p:nvGraphicFramePr>
        <p:xfrm>
          <a:off x="4711960" y="2397363"/>
          <a:ext cx="7315200" cy="4315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337000134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98549241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58818587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830937113"/>
                    </a:ext>
                  </a:extLst>
                </a:gridCol>
              </a:tblGrid>
              <a:tr h="436321">
                <a:tc>
                  <a:txBody>
                    <a:bodyPr/>
                    <a:lstStyle/>
                    <a:p>
                      <a:r>
                        <a:rPr lang="en-IN" dirty="0"/>
                        <a:t>Order_ID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Expected_Delivery_Date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Actual_Delivery_Date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Delay_Days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207576"/>
                  </a:ext>
                </a:extLst>
              </a:tr>
              <a:tr h="459383">
                <a:tc>
                  <a:txBody>
                    <a:bodyPr/>
                    <a:lstStyle/>
                    <a:p>
                      <a:r>
                        <a:rPr lang="en-IN" dirty="0"/>
                        <a:t>FLP-ORD-0001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2025-07-13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2025-07-14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5275121"/>
                  </a:ext>
                </a:extLst>
              </a:tr>
              <a:tr h="459383">
                <a:tc>
                  <a:txBody>
                    <a:bodyPr/>
                    <a:lstStyle/>
                    <a:p>
                      <a:r>
                        <a:rPr lang="en-IN"/>
                        <a:t>FLP-ORD-0002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2025-08-09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2025-08-09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3956976"/>
                  </a:ext>
                </a:extLst>
              </a:tr>
              <a:tr h="459383">
                <a:tc>
                  <a:txBody>
                    <a:bodyPr/>
                    <a:lstStyle/>
                    <a:p>
                      <a:r>
                        <a:rPr lang="en-IN"/>
                        <a:t>FLP-ORD-0003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2025-07-09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2025-07-09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5435038"/>
                  </a:ext>
                </a:extLst>
              </a:tr>
              <a:tr h="459383">
                <a:tc>
                  <a:txBody>
                    <a:bodyPr/>
                    <a:lstStyle/>
                    <a:p>
                      <a:r>
                        <a:rPr lang="en-IN"/>
                        <a:t>FLP-ORD-0004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2025-07-25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2025-07-25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7346334"/>
                  </a:ext>
                </a:extLst>
              </a:tr>
              <a:tr h="459383">
                <a:tc>
                  <a:txBody>
                    <a:bodyPr/>
                    <a:lstStyle/>
                    <a:p>
                      <a:r>
                        <a:rPr lang="en-IN"/>
                        <a:t>FLP-ORD-0005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2025-08-01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2025-08-01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9136600"/>
                  </a:ext>
                </a:extLst>
              </a:tr>
              <a:tr h="459383">
                <a:tc>
                  <a:txBody>
                    <a:bodyPr/>
                    <a:lstStyle/>
                    <a:p>
                      <a:r>
                        <a:rPr lang="en-IN"/>
                        <a:t>FLP-ORD-0006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2025-08-01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2025-08-02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3371569"/>
                  </a:ext>
                </a:extLst>
              </a:tr>
              <a:tr h="459383">
                <a:tc>
                  <a:txBody>
                    <a:bodyPr/>
                    <a:lstStyle/>
                    <a:p>
                      <a:r>
                        <a:rPr lang="en-IN"/>
                        <a:t>FLP-ORD-0007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2025-08-12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2025-08-12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5544899"/>
                  </a:ext>
                </a:extLst>
              </a:tr>
              <a:tr h="459383">
                <a:tc>
                  <a:txBody>
                    <a:bodyPr/>
                    <a:lstStyle/>
                    <a:p>
                      <a:r>
                        <a:rPr lang="en-IN"/>
                        <a:t>FLP-ORD-0008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2025-08-23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2025-08-23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9571837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B32B7280-02D9-4EAB-BE9D-3B8DE7228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57" y="5419935"/>
            <a:ext cx="3788229" cy="1292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128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EE5EC-AE73-4F02-B5B2-F6740E5AE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B0F0"/>
                </a:solidFill>
              </a:rPr>
              <a:t>Top Delayed Orders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348D5-4FC5-4E56-8173-0E4A4EE8D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549" y="2721407"/>
            <a:ext cx="4896271" cy="181013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sz="1400" b="1" dirty="0"/>
              <a:t>Query-</a:t>
            </a:r>
          </a:p>
          <a:p>
            <a:pPr marL="0" indent="0">
              <a:buNone/>
            </a:pPr>
            <a:r>
              <a:rPr lang="en-IN" sz="1400" b="1" dirty="0"/>
              <a:t>SELECT  Order_ID,</a:t>
            </a:r>
            <a:endParaRPr lang="en-IN" sz="1400" dirty="0"/>
          </a:p>
          <a:p>
            <a:pPr marL="0" indent="0">
              <a:buNone/>
            </a:pPr>
            <a:r>
              <a:rPr lang="en-IN" sz="1400" b="1" dirty="0"/>
              <a:t> DATEDIFF(Actual_Delivery_Date, Expected_Delivery_Date) AS Delay_Days</a:t>
            </a:r>
            <a:endParaRPr lang="en-IN" sz="1400" dirty="0"/>
          </a:p>
          <a:p>
            <a:pPr marL="0" indent="0">
              <a:buNone/>
            </a:pPr>
            <a:r>
              <a:rPr lang="en-IN" sz="1400" b="1" dirty="0"/>
              <a:t>FROM orders_table</a:t>
            </a:r>
            <a:endParaRPr lang="en-IN" sz="1400" dirty="0"/>
          </a:p>
          <a:p>
            <a:pPr marL="0" indent="0">
              <a:buNone/>
            </a:pPr>
            <a:r>
              <a:rPr lang="en-IN" sz="1400" b="1" dirty="0"/>
              <a:t>ORDER BY Delay_Days DESC</a:t>
            </a:r>
            <a:endParaRPr lang="en-IN" sz="1400" dirty="0"/>
          </a:p>
          <a:p>
            <a:pPr marL="0" indent="0">
              <a:buNone/>
            </a:pPr>
            <a:r>
              <a:rPr lang="en-IN" sz="1400" b="1" dirty="0"/>
              <a:t>LIMIT 10;</a:t>
            </a:r>
            <a:endParaRPr lang="en-IN" sz="1400" dirty="0"/>
          </a:p>
          <a:p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D171E89-C105-4D6B-A788-952E38CE33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1060548"/>
              </p:ext>
            </p:extLst>
          </p:nvPr>
        </p:nvGraphicFramePr>
        <p:xfrm>
          <a:off x="5751579" y="1614797"/>
          <a:ext cx="47453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2680">
                  <a:extLst>
                    <a:ext uri="{9D8B030D-6E8A-4147-A177-3AD203B41FA5}">
                      <a16:colId xmlns:a16="http://schemas.microsoft.com/office/drawing/2014/main" val="1464588677"/>
                    </a:ext>
                  </a:extLst>
                </a:gridCol>
                <a:gridCol w="2372680">
                  <a:extLst>
                    <a:ext uri="{9D8B030D-6E8A-4147-A177-3AD203B41FA5}">
                      <a16:colId xmlns:a16="http://schemas.microsoft.com/office/drawing/2014/main" val="1620695525"/>
                    </a:ext>
                  </a:extLst>
                </a:gridCol>
              </a:tblGrid>
              <a:tr h="308178">
                <a:tc>
                  <a:txBody>
                    <a:bodyPr/>
                    <a:lstStyle/>
                    <a:p>
                      <a:r>
                        <a:rPr lang="en-IN" dirty="0"/>
                        <a:t>Order_ID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highlight>
                            <a:srgbClr val="0000FF"/>
                          </a:highlight>
                        </a:rPr>
                        <a:t>Delays_days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6806869"/>
                  </a:ext>
                </a:extLst>
              </a:tr>
              <a:tr h="308178">
                <a:tc>
                  <a:txBody>
                    <a:bodyPr/>
                    <a:lstStyle/>
                    <a:p>
                      <a:r>
                        <a:rPr lang="en-IN" dirty="0"/>
                        <a:t>FLP-ORD-0166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9466307"/>
                  </a:ext>
                </a:extLst>
              </a:tr>
              <a:tr h="308178">
                <a:tc>
                  <a:txBody>
                    <a:bodyPr/>
                    <a:lstStyle/>
                    <a:p>
                      <a:r>
                        <a:rPr lang="en-IN"/>
                        <a:t>FLP-ORD-0118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9019283"/>
                  </a:ext>
                </a:extLst>
              </a:tr>
              <a:tr h="308178">
                <a:tc>
                  <a:txBody>
                    <a:bodyPr/>
                    <a:lstStyle/>
                    <a:p>
                      <a:r>
                        <a:rPr lang="en-IN"/>
                        <a:t>FLP-ORD-0025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3538648"/>
                  </a:ext>
                </a:extLst>
              </a:tr>
              <a:tr h="308178">
                <a:tc>
                  <a:txBody>
                    <a:bodyPr/>
                    <a:lstStyle/>
                    <a:p>
                      <a:r>
                        <a:rPr lang="en-IN"/>
                        <a:t>FLP-ORD-0079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0794711"/>
                  </a:ext>
                </a:extLst>
              </a:tr>
              <a:tr h="308178">
                <a:tc>
                  <a:txBody>
                    <a:bodyPr/>
                    <a:lstStyle/>
                    <a:p>
                      <a:r>
                        <a:rPr lang="en-IN"/>
                        <a:t>FLP-ORD-0092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2997478"/>
                  </a:ext>
                </a:extLst>
              </a:tr>
              <a:tr h="308178">
                <a:tc>
                  <a:txBody>
                    <a:bodyPr/>
                    <a:lstStyle/>
                    <a:p>
                      <a:r>
                        <a:rPr lang="en-IN"/>
                        <a:t>FLP-ORD-0077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3462863"/>
                  </a:ext>
                </a:extLst>
              </a:tr>
              <a:tr h="308178">
                <a:tc>
                  <a:txBody>
                    <a:bodyPr/>
                    <a:lstStyle/>
                    <a:p>
                      <a:r>
                        <a:rPr lang="en-IN"/>
                        <a:t>FLP-ORD-0129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9668714"/>
                  </a:ext>
                </a:extLst>
              </a:tr>
              <a:tr h="308178">
                <a:tc>
                  <a:txBody>
                    <a:bodyPr/>
                    <a:lstStyle/>
                    <a:p>
                      <a:r>
                        <a:rPr lang="en-IN"/>
                        <a:t>FLP-ORD-0165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4448931"/>
                  </a:ext>
                </a:extLst>
              </a:tr>
              <a:tr h="308178">
                <a:tc>
                  <a:txBody>
                    <a:bodyPr/>
                    <a:lstStyle/>
                    <a:p>
                      <a:r>
                        <a:rPr lang="en-IN"/>
                        <a:t>FLP-ORD-0010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0351292"/>
                  </a:ext>
                </a:extLst>
              </a:tr>
              <a:tr h="308178">
                <a:tc>
                  <a:txBody>
                    <a:bodyPr/>
                    <a:lstStyle/>
                    <a:p>
                      <a:r>
                        <a:rPr lang="en-IN"/>
                        <a:t>FLP-ORD-0121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79777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9151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5F777-0CAE-4782-B412-EA3C038B1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24726"/>
            <a:ext cx="9404723" cy="1400530"/>
          </a:xfrm>
        </p:spPr>
        <p:txBody>
          <a:bodyPr/>
          <a:lstStyle/>
          <a:p>
            <a:r>
              <a:rPr lang="en-IN" dirty="0">
                <a:solidFill>
                  <a:srgbClr val="00B0F0"/>
                </a:solidFill>
              </a:rPr>
              <a:t>Top Delayed Routes</a:t>
            </a:r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AC4426CF-A267-48BF-BA9A-00EC40DB71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6182733"/>
              </p:ext>
            </p:extLst>
          </p:nvPr>
        </p:nvGraphicFramePr>
        <p:xfrm>
          <a:off x="6783355" y="832998"/>
          <a:ext cx="4068148" cy="31076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E9A8326A-0F1E-4B03-995E-3D110A912752}"/>
              </a:ext>
            </a:extLst>
          </p:cNvPr>
          <p:cNvSpPr txBox="1"/>
          <p:nvPr/>
        </p:nvSpPr>
        <p:spPr>
          <a:xfrm>
            <a:off x="1" y="2463282"/>
            <a:ext cx="617686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SELECT  Route_ID,    AVG(DATEDIFF(Actual_Delivery_Date, Expected_Delivery_Date)) AS Avg_Delay_Days FROM orders_table GROUP BY Route_ID ORDER BY Avg_Delay_Days DESCLIMIT 10;</a:t>
            </a:r>
            <a:endParaRPr lang="en-IN" sz="14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DA98027-25CB-4C44-BE7F-17CB88784AE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23030" y="3969022"/>
            <a:ext cx="2571750" cy="138674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912FFCD-5ECA-4351-95F2-763290EC1B58}"/>
              </a:ext>
            </a:extLst>
          </p:cNvPr>
          <p:cNvSpPr txBox="1"/>
          <p:nvPr/>
        </p:nvSpPr>
        <p:spPr>
          <a:xfrm>
            <a:off x="7091265" y="4348882"/>
            <a:ext cx="1296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9235C6-BBBE-446C-9921-D1C797E5061F}"/>
              </a:ext>
            </a:extLst>
          </p:cNvPr>
          <p:cNvSpPr txBox="1"/>
          <p:nvPr/>
        </p:nvSpPr>
        <p:spPr>
          <a:xfrm>
            <a:off x="7585788" y="4363009"/>
            <a:ext cx="4153887" cy="2423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>
                <a:highlight>
                  <a:srgbClr val="0000FF"/>
                </a:highlight>
              </a:rPr>
              <a:t>KEY INSIGHTS:</a:t>
            </a:r>
          </a:p>
          <a:p>
            <a:r>
              <a:rPr lang="en-IN" sz="1200" dirty="0"/>
              <a:t>Route RT_13 was identified as the most delayed route with an average delay of 1.09 days.</a:t>
            </a:r>
          </a:p>
          <a:p>
            <a:r>
              <a:rPr lang="en-IN" sz="1200" dirty="0"/>
              <a:t>Other routes such as RT_05, RT_14, and RT_09 also showed moderate delays. This indicates that certain routes require operational improvements to reduce delivery time.</a:t>
            </a:r>
            <a:r>
              <a:rPr lang="en-US" sz="1200" dirty="0"/>
              <a:t> These routes are inefficient and need optimization</a:t>
            </a:r>
            <a:endParaRPr lang="en-IN" sz="1200" dirty="0"/>
          </a:p>
          <a:p>
            <a:endParaRPr lang="en-IN" sz="1200" dirty="0"/>
          </a:p>
          <a:p>
            <a:r>
              <a:rPr lang="en-IN" sz="1200" dirty="0"/>
              <a:t>-Targeted improvements in high-delay routes can significantly enhance overall delivery efficiency</a:t>
            </a:r>
          </a:p>
          <a:p>
            <a:endParaRPr lang="en-US" sz="1050" dirty="0"/>
          </a:p>
          <a:p>
            <a:endParaRPr lang="en-IN" sz="1050" dirty="0"/>
          </a:p>
          <a:p>
            <a:endParaRPr lang="en-IN" sz="10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E625F8-EF88-4A5F-8FB0-7E201C30A1F1}"/>
              </a:ext>
            </a:extLst>
          </p:cNvPr>
          <p:cNvSpPr/>
          <p:nvPr/>
        </p:nvSpPr>
        <p:spPr>
          <a:xfrm>
            <a:off x="7002834" y="6211669"/>
            <a:ext cx="505231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Higher Avg Delay = Poor route planning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Lower Avg Delay = Efficient route </a:t>
            </a:r>
          </a:p>
        </p:txBody>
      </p:sp>
    </p:spTree>
    <p:extLst>
      <p:ext uri="{BB962C8B-B14F-4D97-AF65-F5344CB8AC3E}">
        <p14:creationId xmlns:p14="http://schemas.microsoft.com/office/powerpoint/2010/main" val="781754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DD634-456E-4145-9217-2FAAE0158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24726"/>
            <a:ext cx="9404723" cy="1400530"/>
          </a:xfrm>
        </p:spPr>
        <p:txBody>
          <a:bodyPr/>
          <a:lstStyle/>
          <a:p>
            <a:r>
              <a:rPr lang="en-IN" dirty="0">
                <a:solidFill>
                  <a:srgbClr val="00B0F0"/>
                </a:solidFill>
              </a:rPr>
              <a:t>Warehouse Performance Analysis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C9A1B89-52C3-46EB-8F39-DE4CA057AF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4224747"/>
              </p:ext>
            </p:extLst>
          </p:nvPr>
        </p:nvGraphicFramePr>
        <p:xfrm>
          <a:off x="6400800" y="1502149"/>
          <a:ext cx="57912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1830632176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950599636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1831508974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1499001715"/>
                    </a:ext>
                  </a:extLst>
                </a:gridCol>
              </a:tblGrid>
              <a:tr h="324206">
                <a:tc>
                  <a:txBody>
                    <a:bodyPr/>
                    <a:lstStyle/>
                    <a:p>
                      <a:r>
                        <a:rPr lang="en-IN" dirty="0"/>
                        <a:t>Warehouse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Order_ID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Rank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7387359"/>
                  </a:ext>
                </a:extLst>
              </a:tr>
              <a:tr h="567361">
                <a:tc>
                  <a:txBody>
                    <a:bodyPr/>
                    <a:lstStyle/>
                    <a:p>
                      <a:r>
                        <a:rPr lang="en-IN" dirty="0"/>
                        <a:t>WH_01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FLP-ORD-0077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6642470"/>
                  </a:ext>
                </a:extLst>
              </a:tr>
              <a:tr h="567361">
                <a:tc>
                  <a:txBody>
                    <a:bodyPr/>
                    <a:lstStyle/>
                    <a:p>
                      <a:r>
                        <a:rPr lang="en-IN"/>
                        <a:t>WH_01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FLP-ORD-0194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932354"/>
                  </a:ext>
                </a:extLst>
              </a:tr>
              <a:tr h="567361">
                <a:tc>
                  <a:txBody>
                    <a:bodyPr/>
                    <a:lstStyle/>
                    <a:p>
                      <a:r>
                        <a:rPr lang="en-IN"/>
                        <a:t>WH_01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FLP-ORD-0210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8051380"/>
                  </a:ext>
                </a:extLst>
              </a:tr>
              <a:tr h="567361">
                <a:tc>
                  <a:txBody>
                    <a:bodyPr/>
                    <a:lstStyle/>
                    <a:p>
                      <a:r>
                        <a:rPr lang="en-IN"/>
                        <a:t>WH_01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FLP-ORD-0055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4791869"/>
                  </a:ext>
                </a:extLst>
              </a:tr>
              <a:tr h="567361">
                <a:tc>
                  <a:txBody>
                    <a:bodyPr/>
                    <a:lstStyle/>
                    <a:p>
                      <a:r>
                        <a:rPr lang="en-IN"/>
                        <a:t>WH_01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FLP-ORD-0148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2948981"/>
                  </a:ext>
                </a:extLst>
              </a:tr>
              <a:tr h="567361">
                <a:tc>
                  <a:txBody>
                    <a:bodyPr/>
                    <a:lstStyle/>
                    <a:p>
                      <a:r>
                        <a:rPr lang="en-IN"/>
                        <a:t>WH_01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FLP-ORD-0296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6381995"/>
                  </a:ext>
                </a:extLst>
              </a:tr>
              <a:tr h="567361">
                <a:tc>
                  <a:txBody>
                    <a:bodyPr/>
                    <a:lstStyle/>
                    <a:p>
                      <a:r>
                        <a:rPr lang="en-IN" dirty="0"/>
                        <a:t>WH_01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FLP-ORD-0002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0278291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FC17A979-06FC-454E-9AAB-75A59BB1F660}"/>
              </a:ext>
            </a:extLst>
          </p:cNvPr>
          <p:cNvSpPr/>
          <p:nvPr/>
        </p:nvSpPr>
        <p:spPr>
          <a:xfrm>
            <a:off x="6400800" y="6433274"/>
            <a:ext cx="49936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ighlight>
                  <a:srgbClr val="0000FF"/>
                </a:highlight>
              </a:rPr>
              <a:t>Orders ranked by delay within each warehouse</a:t>
            </a:r>
            <a:endParaRPr lang="en-IN" dirty="0">
              <a:highlight>
                <a:srgbClr val="0000FF"/>
              </a:highligh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3DF4A71-53EF-41DD-A8BA-4A199559EC39}"/>
              </a:ext>
            </a:extLst>
          </p:cNvPr>
          <p:cNvSpPr/>
          <p:nvPr/>
        </p:nvSpPr>
        <p:spPr>
          <a:xfrm>
            <a:off x="0" y="2959713"/>
            <a:ext cx="64008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/>
              <a:t>SELECT Warehouse_ID,Order_ID,DATEDIFF(Actual_Delivery_Date, Expected_Delivery_Date) AS Delay_Days,    RANK() OVER (        PARTITION BY Warehouse_ID         ORDER BY DATEDIFF(Actual_Delivery_Date, Expected_Delivery_Date) DESC) AS Rank_in_Warehouse FROM orders_table;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C0B84D-57E7-4EA5-AFF2-E048B7842823}"/>
              </a:ext>
            </a:extLst>
          </p:cNvPr>
          <p:cNvSpPr/>
          <p:nvPr/>
        </p:nvSpPr>
        <p:spPr>
          <a:xfrm>
            <a:off x="88971" y="6433274"/>
            <a:ext cx="3111429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highlight>
                  <a:srgbClr val="0000FF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Lowest delay = best warehouse</a:t>
            </a:r>
          </a:p>
        </p:txBody>
      </p:sp>
    </p:spTree>
    <p:extLst>
      <p:ext uri="{BB962C8B-B14F-4D97-AF65-F5344CB8AC3E}">
        <p14:creationId xmlns:p14="http://schemas.microsoft.com/office/powerpoint/2010/main" val="3575284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F47FA-C2C6-4C76-BC12-7FD2A426B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B0F0"/>
                </a:solidFill>
              </a:rPr>
              <a:t>Key Insights: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6B552F2-083E-4A16-B01B-4BB832D2E7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3516" y="1421083"/>
            <a:ext cx="6407831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Majority deliveries are on time (0 delay)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Maximum delay observed: 3 days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Certain routes (RT_13) show higher delays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Warehouse performance varies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Improvement needed in specific routes like    RT_13.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5915F7-F3B6-46FB-BB13-C7C0EFEACCC1}"/>
              </a:ext>
            </a:extLst>
          </p:cNvPr>
          <p:cNvSpPr/>
          <p:nvPr/>
        </p:nvSpPr>
        <p:spPr>
          <a:xfrm>
            <a:off x="403516" y="4466644"/>
            <a:ext cx="237700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highlight>
                  <a:srgbClr val="0000FF"/>
                </a:highlight>
              </a:rPr>
              <a:t>Conclusion:-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00E0C97-452C-409A-9284-04B100D838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807" y="4836752"/>
            <a:ext cx="514666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Overall system performs well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Delays are limited but concentrated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Targeted improvements can enhance efficiency </a:t>
            </a:r>
          </a:p>
        </p:txBody>
      </p:sp>
    </p:spTree>
    <p:extLst>
      <p:ext uri="{BB962C8B-B14F-4D97-AF65-F5344CB8AC3E}">
        <p14:creationId xmlns:p14="http://schemas.microsoft.com/office/powerpoint/2010/main" val="3731376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B8B19-B52C-49C6-889D-151887C3F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Task 3: Route Optimization Insights</a:t>
            </a:r>
            <a:endParaRPr lang="en-IN" dirty="0">
              <a:solidFill>
                <a:srgbClr val="00B0F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E44FF-C931-4695-AF3A-C1707C680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3" y="3097763"/>
            <a:ext cx="7219594" cy="315063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Routes table was validated for duplicates, nulls, and correct data types.</a:t>
            </a:r>
          </a:p>
          <a:p>
            <a:r>
              <a:rPr lang="en-US" sz="1500" dirty="0"/>
              <a:t>SELECT Route_ID, COUNT(*)</a:t>
            </a:r>
            <a:br>
              <a:rPr lang="en-US" sz="1500" dirty="0"/>
            </a:br>
            <a:r>
              <a:rPr lang="en-US" sz="1500" dirty="0"/>
              <a:t>FROM routes_table</a:t>
            </a:r>
            <a:br>
              <a:rPr lang="en-US" sz="1500" dirty="0"/>
            </a:br>
            <a:r>
              <a:rPr lang="en-US" sz="1500" dirty="0"/>
              <a:t>GROUP BY Route_ID</a:t>
            </a:r>
            <a:br>
              <a:rPr lang="en-US" sz="1500" dirty="0"/>
            </a:br>
            <a:r>
              <a:rPr lang="en-US" sz="1500" dirty="0"/>
              <a:t>HAVING COUNT(*) &gt; 1;</a:t>
            </a:r>
          </a:p>
          <a:p>
            <a:endParaRPr lang="en-US" sz="1500" dirty="0"/>
          </a:p>
          <a:p>
            <a:r>
              <a:rPr lang="en-US" sz="1500" dirty="0"/>
              <a:t>SELECT *FROM routes_table</a:t>
            </a:r>
            <a:br>
              <a:rPr lang="en-US" sz="1500" dirty="0"/>
            </a:br>
            <a:r>
              <a:rPr lang="en-US" sz="1500" dirty="0"/>
              <a:t>WHERE </a:t>
            </a:r>
            <a:br>
              <a:rPr lang="en-US" sz="1500" dirty="0"/>
            </a:br>
            <a:r>
              <a:rPr lang="en-US" sz="1500" dirty="0"/>
              <a:t>Route_ID IS NULL</a:t>
            </a:r>
            <a:br>
              <a:rPr lang="en-US" sz="1500" dirty="0"/>
            </a:br>
            <a:r>
              <a:rPr lang="en-US" sz="1500" dirty="0"/>
              <a:t>OR Distance_KM IS NULL</a:t>
            </a:r>
            <a:br>
              <a:rPr lang="en-US" sz="1500" dirty="0"/>
            </a:br>
            <a:r>
              <a:rPr lang="en-US" sz="1500" dirty="0"/>
              <a:t>OR Average_Travel_Time_Min IS NULL</a:t>
            </a:r>
            <a:br>
              <a:rPr lang="en-US" sz="1500" dirty="0"/>
            </a:br>
            <a:r>
              <a:rPr lang="en-US" sz="1500" dirty="0"/>
              <a:t>OR Traffic_Delay_Min IS NULL;</a:t>
            </a:r>
            <a:endParaRPr lang="en-IN" sz="15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0ECF99-231F-4C4E-91D7-A9BA2266F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182" y="3429000"/>
            <a:ext cx="2219635" cy="10669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7778A82-C488-40C5-BB97-265E8F98FE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2514" y="4867081"/>
            <a:ext cx="3127168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778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A18AB-AF3A-45EB-BF50-4562053F4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B0F0"/>
                </a:solidFill>
              </a:rPr>
              <a:t>Average Delivery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DFF35-9A4E-48BB-90AC-6F804723B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200" dirty="0"/>
              <a:t>SELECT </a:t>
            </a:r>
            <a:br>
              <a:rPr lang="en-US" sz="1200" dirty="0"/>
            </a:br>
            <a:r>
              <a:rPr lang="en-US" sz="1200" dirty="0"/>
              <a:t>Route_ID,</a:t>
            </a:r>
            <a:br>
              <a:rPr lang="en-US" sz="1200" dirty="0"/>
            </a:br>
            <a:r>
              <a:rPr lang="en-US" sz="1200" dirty="0"/>
              <a:t>ROUND(AVG(DATEDIFF(Actual_Delivery_Date, Order_Date)),2) AS Avg_Delivery_Time</a:t>
            </a:r>
            <a:br>
              <a:rPr lang="en-US" sz="1200" dirty="0"/>
            </a:br>
            <a:r>
              <a:rPr lang="en-US" sz="1200" dirty="0"/>
              <a:t>FROM orders_table</a:t>
            </a:r>
            <a:br>
              <a:rPr lang="en-US" sz="1200" dirty="0"/>
            </a:br>
            <a:r>
              <a:rPr lang="en-US" sz="1200" dirty="0"/>
              <a:t>GROUP BY Route_ID;</a:t>
            </a:r>
          </a:p>
          <a:p>
            <a:endParaRPr lang="en-IN" sz="1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BB6573-2596-47CC-B4ED-9CC561BC6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372" y="3042273"/>
            <a:ext cx="4584220" cy="2313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347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D3B46-2827-49EE-9D0D-F5629E8C1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B0F0"/>
                </a:solidFill>
              </a:rPr>
              <a:t>Average Traffic Delay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5DE79-98C0-48AA-962E-9A7CC41B1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3" y="2052918"/>
            <a:ext cx="6519798" cy="4195481"/>
          </a:xfrm>
        </p:spPr>
        <p:txBody>
          <a:bodyPr>
            <a:normAutofit/>
          </a:bodyPr>
          <a:lstStyle/>
          <a:p>
            <a:r>
              <a:rPr lang="en-US" sz="1600" dirty="0"/>
              <a:t>SELECT Route_ID,AVG(Traffic_Delay_Min) AS Avg_Traffic_Delay FROM routes_table GROUP BY route_id;</a:t>
            </a:r>
          </a:p>
          <a:p>
            <a:endParaRPr lang="en-IN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7CF515-901B-4B6D-80B4-4F93518AE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017" y="2682817"/>
            <a:ext cx="2946404" cy="315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290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75F2E-D231-4072-9EB9-D587E05F4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B0F0"/>
                </a:solidFill>
              </a:rPr>
              <a:t>Efficiency Ratio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F68C4-72DA-452B-9E9F-2442A9C73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r.Route_ID,r.Distance_KM,r.Average_Travel_Time_Min,ROUND(r.Distance_KM / r.Average_Travel_Time_Min, 2) AS Efficiency_RatioFROM routes_table r;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5808B3-94B1-487C-A70C-ABB457045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3713" y="3094016"/>
            <a:ext cx="4887007" cy="354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8601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F246A-D9BA-4666-9FA8-DFF0BEDA4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B0F0"/>
                </a:solidFill>
              </a:rPr>
              <a:t>Worst 3 Routes (Efficiency)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17772-E1FE-4087-AB91-F342068DA9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9"/>
            <a:ext cx="8946541" cy="2519082"/>
          </a:xfrm>
        </p:spPr>
        <p:txBody>
          <a:bodyPr/>
          <a:lstStyle/>
          <a:p>
            <a:r>
              <a:rPr lang="en-US" dirty="0"/>
              <a:t>SELECT Route_ID,Start_Location,End_Location,Distance_KM,Average_Travel_Time_Min,Traffic_Delay_Min,ROUND(Distance_KM / Average_Travel_Time_Min, 2) AS Efficiency_Ratio FROM routes_table ORDER BY Efficiency_Ratio ASC LIMIT 3;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7F86DD-D8A7-4893-8A14-3AE3C9425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045" y="3664291"/>
            <a:ext cx="8268854" cy="161947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66E34BE-136B-4416-8B5E-2B90E1DD93EE}"/>
              </a:ext>
            </a:extLst>
          </p:cNvPr>
          <p:cNvSpPr/>
          <p:nvPr/>
        </p:nvSpPr>
        <p:spPr>
          <a:xfrm>
            <a:off x="1214045" y="5511673"/>
            <a:ext cx="32646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Lower ratio = inefficient routes</a:t>
            </a:r>
          </a:p>
        </p:txBody>
      </p:sp>
    </p:spTree>
    <p:extLst>
      <p:ext uri="{BB962C8B-B14F-4D97-AF65-F5344CB8AC3E}">
        <p14:creationId xmlns:p14="http://schemas.microsoft.com/office/powerpoint/2010/main" val="29524115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DD398-B9F8-484A-B109-EE3DD5381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rgbClr val="00B0F0"/>
                </a:solidFill>
              </a:rPr>
              <a:t>Routes with &gt;20% Delayed Shipments</a:t>
            </a:r>
            <a:endParaRPr lang="en-IN" sz="4000" dirty="0">
              <a:solidFill>
                <a:srgbClr val="00B0F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B0622-853F-45C7-80A5-520BE00A0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/>
              <a:t>SELECT Route_ID, COUNT(*) AS Total_Orders, SUM(CASE 	WHEN Actual_Delivery_Date &gt; Expected_Delivery_Date THEN 1 	ELSE 0 	END) AS Delayed_Orders,    ROUND(SUM(CASE WHEN Actual_Delivery_Date &gt; Expected_Delivery_Date THEN 1 ELSE 0 END) * 100.0 / COUNT(*),   2) AS Delay_Percentage FROM orders_table GROUP BY Route_ID HAVING SUM(CASE WHEN Actual_Delivery_Date &gt; Expected_Delivery_Date THEN 1 ELSE 0 END) * 100.0 / COUNT(*) &gt; 20 ORDER BY Delay_Percentage DESC;</a:t>
            </a:r>
          </a:p>
          <a:p>
            <a:endParaRPr lang="en-US" sz="1600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3D2FA5-A0BC-4A9C-89C5-07E2A2EE5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572" y="3666932"/>
            <a:ext cx="4677428" cy="30231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6D3B92-9290-4CA2-A704-1622833E50A7}"/>
              </a:ext>
            </a:extLst>
          </p:cNvPr>
          <p:cNvSpPr txBox="1"/>
          <p:nvPr/>
        </p:nvSpPr>
        <p:spPr>
          <a:xfrm>
            <a:off x="6513551" y="4376597"/>
            <a:ext cx="353630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highlight>
                  <a:srgbClr val="0000FF"/>
                </a:highlight>
              </a:rPr>
              <a:t>High-Risk Routes (Immediate Attention)</a:t>
            </a:r>
          </a:p>
          <a:p>
            <a:r>
              <a:rPr lang="en-IN" sz="1200" dirty="0">
                <a:highlight>
                  <a:srgbClr val="0000FF"/>
                </a:highlight>
              </a:rPr>
              <a:t>-</a:t>
            </a:r>
            <a:r>
              <a:rPr lang="en-US" sz="1200" dirty="0">
                <a:highlight>
                  <a:srgbClr val="0000FF"/>
                </a:highlight>
              </a:rPr>
              <a:t>These routes have very high delay %:</a:t>
            </a:r>
          </a:p>
          <a:p>
            <a:r>
              <a:rPr lang="en-US" sz="1200" dirty="0">
                <a:highlight>
                  <a:srgbClr val="0000FF"/>
                </a:highlight>
              </a:rPr>
              <a:t>RT_13 → 54.55%  (worst) </a:t>
            </a:r>
          </a:p>
          <a:p>
            <a:r>
              <a:rPr lang="en-US" sz="1200" dirty="0">
                <a:highlight>
                  <a:srgbClr val="0000FF"/>
                </a:highlight>
              </a:rPr>
              <a:t>RT_05 → 40.00% </a:t>
            </a:r>
          </a:p>
          <a:p>
            <a:r>
              <a:rPr lang="en-US" sz="1200" dirty="0">
                <a:highlight>
                  <a:srgbClr val="0000FF"/>
                </a:highlight>
              </a:rPr>
              <a:t>RT_14 → 35.29%</a:t>
            </a:r>
          </a:p>
          <a:p>
            <a:r>
              <a:rPr lang="en-US" sz="1200" dirty="0">
                <a:highlight>
                  <a:srgbClr val="0000FF"/>
                </a:highlight>
              </a:rPr>
              <a:t>More than 1 out of 3 deliveries are getting delayed.</a:t>
            </a:r>
          </a:p>
          <a:p>
            <a:r>
              <a:rPr lang="en-US" sz="1200" dirty="0">
                <a:highlight>
                  <a:srgbClr val="0000FF"/>
                </a:highlight>
              </a:rPr>
              <a:t>-RT_13 appears everywhere (Worst delay + Worst %).</a:t>
            </a:r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6555207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D9583-524E-4341-ACC6-F86AAC01B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highlight>
                  <a:srgbClr val="0000FF"/>
                </a:highlight>
              </a:rPr>
              <a:t>FINAL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36339-FA4F-4F16-9759-668F37285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749" y="1331259"/>
            <a:ext cx="8946541" cy="5526741"/>
          </a:xfrm>
        </p:spPr>
        <p:txBody>
          <a:bodyPr>
            <a:normAutofit/>
          </a:bodyPr>
          <a:lstStyle/>
          <a:p>
            <a:r>
              <a:rPr lang="en-IN" dirty="0">
                <a:highlight>
                  <a:srgbClr val="FF00FF"/>
                </a:highlight>
              </a:rPr>
              <a:t>Fix High-Risk Routes First:</a:t>
            </a:r>
          </a:p>
          <a:p>
            <a:r>
              <a:rPr lang="en-IN" dirty="0"/>
              <a:t>Focus on:</a:t>
            </a:r>
          </a:p>
          <a:p>
            <a:r>
              <a:rPr lang="en-IN" dirty="0"/>
              <a:t>RT_13 </a:t>
            </a:r>
          </a:p>
          <a:p>
            <a:r>
              <a:rPr lang="en-IN" dirty="0"/>
              <a:t>RT_05 </a:t>
            </a:r>
          </a:p>
          <a:p>
            <a:r>
              <a:rPr lang="en-IN" dirty="0"/>
              <a:t>RT_14</a:t>
            </a:r>
          </a:p>
          <a:p>
            <a:r>
              <a:rPr lang="en-IN" dirty="0"/>
              <a:t>Review route planning</a:t>
            </a:r>
          </a:p>
          <a:p>
            <a:r>
              <a:rPr lang="en-IN" dirty="0"/>
              <a:t>Check traffic congestion patterns</a:t>
            </a:r>
          </a:p>
          <a:p>
            <a:r>
              <a:rPr lang="en-US" dirty="0"/>
              <a:t>Reassign delivery agents if needed</a:t>
            </a:r>
          </a:p>
          <a:p>
            <a:r>
              <a:rPr lang="en-IN" dirty="0">
                <a:highlight>
                  <a:srgbClr val="FF00FF"/>
                </a:highlight>
              </a:rPr>
              <a:t>Investigate Root Cause</a:t>
            </a:r>
          </a:p>
          <a:p>
            <a:r>
              <a:rPr lang="en-IN" dirty="0"/>
              <a:t>Traffic issues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3A2ED13-6D22-4CB7-8A86-40945323C7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729" y="5526741"/>
            <a:ext cx="489857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Arial" panose="020B0604020202020204" pitchFamily="34" charset="0"/>
              </a:rPr>
              <a:t>~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Long distance vs poor travel time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~Inefficient route mapping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dirty="0">
                <a:highlight>
                  <a:srgbClr val="FF00FF"/>
                </a:highlight>
              </a:rPr>
              <a:t>Improve Scheduling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highlight>
                  <a:srgbClr val="FF00FF"/>
                </a:highlight>
              </a:rPr>
              <a:t>Use Best Routes as Benchmark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00FF"/>
              </a:highlight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68082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9161E-F35A-4A03-B041-17FD29000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B0F0"/>
                </a:solidFill>
              </a:rPr>
              <a:t>TASK:4~Warehouse Performance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13591-C4BA-4385-847F-9BC2337A28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92D050"/>
                </a:solidFill>
              </a:rPr>
              <a:t>Top 3 Warehouses with Highest Processing Time</a:t>
            </a:r>
          </a:p>
          <a:p>
            <a:endParaRPr lang="en-US" dirty="0">
              <a:solidFill>
                <a:srgbClr val="92D050"/>
              </a:solidFill>
            </a:endParaRPr>
          </a:p>
          <a:p>
            <a:endParaRPr lang="en-US" dirty="0">
              <a:solidFill>
                <a:srgbClr val="92D050"/>
              </a:solidFill>
            </a:endParaRPr>
          </a:p>
          <a:p>
            <a:endParaRPr lang="en-US" dirty="0"/>
          </a:p>
          <a:p>
            <a:r>
              <a:rPr lang="en-US" sz="1600" dirty="0">
                <a:highlight>
                  <a:srgbClr val="FF00FF"/>
                </a:highlight>
              </a:rPr>
              <a:t>Warehouse WH_02 has the highest average processing time </a:t>
            </a:r>
            <a:r>
              <a:rPr lang="en-US" sz="1600" dirty="0" err="1">
                <a:highlight>
                  <a:srgbClr val="FF00FF"/>
                </a:highlight>
              </a:rPr>
              <a:t>i.e</a:t>
            </a:r>
            <a:r>
              <a:rPr lang="en-US" sz="1600" dirty="0">
                <a:highlight>
                  <a:srgbClr val="FF00FF"/>
                </a:highlight>
              </a:rPr>
              <a:t> 5.29 days, indicating operational inefficiency and potential delays in order fulfillment</a:t>
            </a:r>
            <a:r>
              <a:rPr lang="en-US" dirty="0">
                <a:highlight>
                  <a:srgbClr val="FF00FF"/>
                </a:highlight>
              </a:rPr>
              <a:t>.</a:t>
            </a:r>
          </a:p>
          <a:p>
            <a:endParaRPr lang="en-US" dirty="0"/>
          </a:p>
          <a:p>
            <a:r>
              <a:rPr lang="en-US" sz="1600" dirty="0"/>
              <a:t>SELECT Warehouse_ID,AVG(DATEDIFF(Actual_Delivery_Date, Order_Date)) AS Avg_Processing_Time FROM orders_table GROUP BY Warehouse_ID ORDER BY Avg_Processing_Time DESC LIMIT 3;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2DD120-8385-4C21-A1EA-1D048DA04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8967" y="2426842"/>
            <a:ext cx="3467584" cy="12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6305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49636-2670-428F-BE5F-3FCAC615E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Total vs Delayed Shipments per Warehouse</a:t>
            </a:r>
            <a:endParaRPr lang="en-IN" dirty="0">
              <a:solidFill>
                <a:srgbClr val="00B0F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B4A9D-FD43-438F-9877-A7E42C1EF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187" y="1927309"/>
            <a:ext cx="8946541" cy="4195481"/>
          </a:xfrm>
        </p:spPr>
        <p:txBody>
          <a:bodyPr/>
          <a:lstStyle/>
          <a:p>
            <a:r>
              <a:rPr lang="en-US" sz="1800" dirty="0"/>
              <a:t>SELECT Warehouse_ID,COUNT(*) AS Total_Orders,SUM(CASE WHEN Actual_Delivery_Date &gt; Expected_Delivery_Date THEN 1 ELSE 0 END) AS Delayed_Orders FROM orders_table GROUP BY Warehouse_ID;</a:t>
            </a:r>
          </a:p>
          <a:p>
            <a:r>
              <a:rPr lang="en-US" sz="14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Worst Performing Warehouses</a:t>
            </a:r>
          </a:p>
          <a:p>
            <a:r>
              <a:rPr lang="en-US" sz="1400" b="1" dirty="0">
                <a:solidFill>
                  <a:srgbClr val="92D050"/>
                </a:solidFill>
              </a:rPr>
              <a:t>WH_10 → 11 delayed orders (highest)</a:t>
            </a:r>
            <a:r>
              <a:rPr lang="en-US" sz="1400" dirty="0">
                <a:solidFill>
                  <a:srgbClr val="92D050"/>
                </a:solidFill>
              </a:rPr>
              <a:t> </a:t>
            </a:r>
          </a:p>
          <a:p>
            <a:r>
              <a:rPr lang="en-US" sz="1400" b="1" dirty="0">
                <a:solidFill>
                  <a:srgbClr val="92D050"/>
                </a:solidFill>
              </a:rPr>
              <a:t>WH_08 → 10 delayed orders</a:t>
            </a:r>
            <a:r>
              <a:rPr lang="en-US" sz="1400" dirty="0">
                <a:solidFill>
                  <a:srgbClr val="92D050"/>
                </a:solidFill>
              </a:rPr>
              <a:t> </a:t>
            </a:r>
          </a:p>
          <a:p>
            <a:r>
              <a:rPr lang="en-US" sz="1400" b="1" dirty="0">
                <a:solidFill>
                  <a:srgbClr val="92D050"/>
                </a:solidFill>
              </a:rPr>
              <a:t>WH_02 &amp; WH_03 → 9 delayed orders</a:t>
            </a:r>
            <a:endParaRPr lang="en-US" sz="1400" dirty="0">
              <a:solidFill>
                <a:srgbClr val="92D050"/>
              </a:solidFill>
            </a:endParaRPr>
          </a:p>
          <a:p>
            <a:r>
              <a:rPr lang="en-US" sz="1600" dirty="0">
                <a:solidFill>
                  <a:schemeClr val="accent2"/>
                </a:solidFill>
              </a:rPr>
              <a:t>These warehouses are major contributors to delivery delays and require operational improvements</a:t>
            </a:r>
          </a:p>
          <a:p>
            <a:r>
              <a:rPr lang="en-IN" sz="16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Best Performing Warehouse</a:t>
            </a:r>
          </a:p>
          <a:p>
            <a:r>
              <a:rPr lang="en-US" sz="1600" dirty="0">
                <a:solidFill>
                  <a:srgbClr val="92D050"/>
                </a:solidFill>
              </a:rPr>
              <a:t>WH_09 → 43 total orders but only 7 delayed</a:t>
            </a:r>
            <a:endParaRPr lang="en-IN" sz="1600" dirty="0">
              <a:solidFill>
                <a:srgbClr val="92D05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1182F5-198B-43F9-A6B2-541CDD893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4833" y="2531441"/>
            <a:ext cx="3449216" cy="230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989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5ABAC-BE8E-4099-9D23-2E9B8C535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B0F0"/>
                </a:solidFill>
              </a:rPr>
              <a:t>Bottleneck warehouses (bottleneck warehouses 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27938-3C7D-438F-9802-06FEEF979A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4195481"/>
          </a:xfrm>
        </p:spPr>
        <p:txBody>
          <a:bodyPr/>
          <a:lstStyle/>
          <a:p>
            <a:r>
              <a:rPr lang="en-IN" sz="1400" dirty="0"/>
              <a:t>WITH avg_time AS (    SELECT AVG(DATEDIFF(Actual_Delivery_Date, Order_Date)) AS </a:t>
            </a:r>
            <a:r>
              <a:rPr lang="en-IN" sz="1400" dirty="0" err="1"/>
              <a:t>Global_Avg</a:t>
            </a:r>
            <a:r>
              <a:rPr lang="en-IN" sz="1400" dirty="0"/>
              <a:t>    FROM orders_table)SELECT o.Warehouse_ID,AVG(DATEDIFF(o.Actual_Delivery_Date, </a:t>
            </a:r>
            <a:r>
              <a:rPr lang="en-IN" sz="1400" dirty="0" err="1"/>
              <a:t>o.Order_Date</a:t>
            </a:r>
            <a:r>
              <a:rPr lang="en-IN" sz="1400" dirty="0"/>
              <a:t>)) AS </a:t>
            </a:r>
            <a:r>
              <a:rPr lang="en-IN" sz="1400" dirty="0" err="1"/>
              <a:t>Avg_TimeFROM</a:t>
            </a:r>
            <a:r>
              <a:rPr lang="en-IN" sz="1400" dirty="0"/>
              <a:t> orders_table </a:t>
            </a:r>
            <a:r>
              <a:rPr lang="en-IN" sz="1400" dirty="0" err="1"/>
              <a:t>oCROSS</a:t>
            </a:r>
            <a:r>
              <a:rPr lang="en-IN" sz="1400" dirty="0"/>
              <a:t> JOIN avg_time </a:t>
            </a:r>
            <a:r>
              <a:rPr lang="en-IN" sz="1400" dirty="0" err="1"/>
              <a:t>aGROUP</a:t>
            </a:r>
            <a:r>
              <a:rPr lang="en-IN" sz="1400" dirty="0"/>
              <a:t> BY </a:t>
            </a:r>
            <a:r>
              <a:rPr lang="en-IN" sz="1400" dirty="0" err="1"/>
              <a:t>o.Warehouse_ID</a:t>
            </a:r>
            <a:r>
              <a:rPr lang="en-IN" sz="1400" dirty="0"/>
              <a:t> HAVING AVG(DATEDIFF(o.Actual_Delivery_Date, </a:t>
            </a:r>
            <a:r>
              <a:rPr lang="en-IN" sz="1400" dirty="0" err="1"/>
              <a:t>o.Order_Date</a:t>
            </a:r>
            <a:r>
              <a:rPr lang="en-IN" sz="1400" dirty="0"/>
              <a:t>)) &gt; (SELECT </a:t>
            </a:r>
            <a:r>
              <a:rPr lang="en-IN" sz="1400" dirty="0" err="1"/>
              <a:t>Global_Avg</a:t>
            </a:r>
            <a:r>
              <a:rPr lang="en-IN" sz="1400" dirty="0"/>
              <a:t> FROM avg_time) ORDER BY </a:t>
            </a:r>
            <a:r>
              <a:rPr lang="en-IN" sz="1400" dirty="0" err="1"/>
              <a:t>Avg_Time</a:t>
            </a:r>
            <a:r>
              <a:rPr lang="en-IN" sz="1400" dirty="0"/>
              <a:t> DESC;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EDA695-E70E-4704-91BB-FA2DAD27C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550" y="3221381"/>
            <a:ext cx="2219635" cy="1095528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24842D0F-A1AA-4709-ABEE-F3623288F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7668" y="4509077"/>
            <a:ext cx="8201608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WH_02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 is the biggest bottleneck (highest delay)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Followed by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WH_10, WH_06, WH_05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These warehouses need: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Process optimization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Resource allocation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Capacity improvement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14632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91ED2-9F8B-4A22-96C1-F05F88BCF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Rank warehouses based on on-time delivery percentage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5090C-8CC6-466A-A646-176636E4E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4304557"/>
          </a:xfrm>
        </p:spPr>
        <p:txBody>
          <a:bodyPr>
            <a:normAutofit/>
          </a:bodyPr>
          <a:lstStyle/>
          <a:p>
            <a:r>
              <a:rPr lang="en-US" sz="1600" dirty="0"/>
              <a:t>SELECT Warehouse_ID,ROUND(SUM(CASE WHEN Actual_Delivery_Date &lt;= Expected_Delivery_Date THEN 1 ELSE 0 END) * 100.0 / COUNT(*), 2) AS On_Time_Percentage,RANK() OVER (ORDER BY SUM(CASE WHEN Actual_Delivery_Date &lt;= Expected_Delivery_Date THEN 1 ELSE 0 END) * 1.0 / COUNT(*) DESC) AS Rank_Position FROM orders_table GROUP BY Warehouse_ID;</a:t>
            </a:r>
          </a:p>
          <a:p>
            <a:endParaRPr lang="en-IN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5B84FD-109B-4A7B-8FD7-37AA61D1B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054" y="3335695"/>
            <a:ext cx="4278265" cy="189878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92EEF05-4196-45EA-A02E-263065E6825D}"/>
              </a:ext>
            </a:extLst>
          </p:cNvPr>
          <p:cNvSpPr/>
          <p:nvPr/>
        </p:nvSpPr>
        <p:spPr>
          <a:xfrm>
            <a:off x="1488053" y="5434145"/>
            <a:ext cx="377441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92D050"/>
                </a:solidFill>
              </a:rPr>
              <a:t>WH_09</a:t>
            </a:r>
            <a:r>
              <a:rPr lang="en-IN" dirty="0">
                <a:solidFill>
                  <a:srgbClr val="92D050"/>
                </a:solidFill>
              </a:rPr>
              <a:t> =Best performing warehouse</a:t>
            </a:r>
          </a:p>
          <a:p>
            <a:r>
              <a:rPr lang="en-IN" b="1" dirty="0">
                <a:solidFill>
                  <a:srgbClr val="92D050"/>
                </a:solidFill>
              </a:rPr>
              <a:t>WH_10</a:t>
            </a:r>
            <a:r>
              <a:rPr lang="en-IN" dirty="0">
                <a:solidFill>
                  <a:srgbClr val="92D050"/>
                </a:solidFill>
              </a:rPr>
              <a:t> =Worst performer</a:t>
            </a:r>
          </a:p>
        </p:txBody>
      </p:sp>
    </p:spTree>
    <p:extLst>
      <p:ext uri="{BB962C8B-B14F-4D97-AF65-F5344CB8AC3E}">
        <p14:creationId xmlns:p14="http://schemas.microsoft.com/office/powerpoint/2010/main" val="42805383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06C50-7244-4A3A-B52E-E7CA4D9F2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B0F0"/>
                </a:solidFill>
              </a:rPr>
              <a:t>KEY INSIGHTS ( Warehouse Performance)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E5BF582-A341-4422-8800-78B8CC6696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0838" y="3253972"/>
            <a:ext cx="1108868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00FF"/>
                </a:highlight>
                <a:latin typeface="Arial" panose="020B0604020202020204" pitchFamily="34" charset="0"/>
              </a:rPr>
              <a:t>WH_09 achieved the highest on-time delivery rate (83.72%)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00FF"/>
                </a:highlight>
                <a:latin typeface="Arial" panose="020B0604020202020204" pitchFamily="34" charset="0"/>
              </a:rPr>
              <a:t>WH_10 showed the lowest performance (63.33%)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00FF"/>
                </a:highlight>
                <a:latin typeface="Arial" panose="020B0604020202020204" pitchFamily="34" charset="0"/>
              </a:rPr>
              <a:t>Bottleneck warehouses like WH_02 and WH_10 require optimization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00FF"/>
                </a:highlight>
                <a:latin typeface="Arial" panose="020B0604020202020204" pitchFamily="34" charset="0"/>
              </a:rPr>
              <a:t>Some warehouses (e.g., WH_06) handle high processing time but still maintain good delivery performance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00FF"/>
                </a:highlight>
                <a:latin typeface="Arial" panose="020B0604020202020204" pitchFamily="34" charset="0"/>
              </a:rPr>
              <a:t>Operational improvements are required in low-performing warehouses </a:t>
            </a:r>
          </a:p>
        </p:txBody>
      </p:sp>
    </p:spTree>
    <p:extLst>
      <p:ext uri="{BB962C8B-B14F-4D97-AF65-F5344CB8AC3E}">
        <p14:creationId xmlns:p14="http://schemas.microsoft.com/office/powerpoint/2010/main" val="24053601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A2E9A-D686-48F4-BAF5-D136EBC4B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Task 5: Delivery Agent Performance</a:t>
            </a:r>
            <a:endParaRPr lang="en-IN" dirty="0">
              <a:solidFill>
                <a:srgbClr val="00B0F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2631F-3380-4E8E-9C40-8C1E3F03F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>
                <a:solidFill>
                  <a:srgbClr val="FFFF00"/>
                </a:solidFill>
              </a:rPr>
              <a:t>Rank agents (per route) by on-time delivery percentage</a:t>
            </a:r>
          </a:p>
          <a:p>
            <a:r>
              <a:rPr lang="en-US" sz="1600" dirty="0"/>
              <a:t>SELECT Agent_ID,Agent_Name,Route_ID,Avg_Speed_KMPH,On_Time_Delivery_Percentage,Experience_Years,RANK() OVER (PARTITION BY Route_ID ORDER BY On_Time_Delivery_Percentage DESC) AS Rank_In_Route FROM deliveryagents_table ORDER BY Route_ID, Rank_In_Route;</a:t>
            </a:r>
          </a:p>
          <a:p>
            <a:endParaRPr lang="en-IN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74442F-6E45-4F3B-9F82-679E9D1D9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596" y="3876870"/>
            <a:ext cx="8531972" cy="271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5779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B23DB-3B4E-40F9-B98D-464B4644A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B0F0"/>
                </a:solidFill>
              </a:rPr>
              <a:t>Agents with on-time % &lt; 80%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DA582-A291-4E66-9DB7-8FBD8F735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SELECT </a:t>
            </a:r>
            <a:r>
              <a:rPr lang="en-US" sz="1600" dirty="0" err="1"/>
              <a:t>Agent_ID</a:t>
            </a:r>
            <a:r>
              <a:rPr lang="en-US" sz="1600" dirty="0"/>
              <a:t>, Agent_Name,Route_ID, </a:t>
            </a:r>
            <a:r>
              <a:rPr lang="en-US" sz="1600" dirty="0" err="1"/>
              <a:t>Avg_Speed_KMPH</a:t>
            </a:r>
            <a:r>
              <a:rPr lang="en-US" sz="1600" dirty="0"/>
              <a:t>, On_Time_Delivery_Percentage,Experience_Years,    CASE        WHEN On_Time_Delivery_Percentage &lt; 73 THEN 'Critical – Below 73%'        WHEN On_Time_Delivery_Percentage &lt; 77 THEN 'Poor – 73% to 77%'        ELSE                                      'Below Average – 77% to 80%'    END AS Performance_Level FROM deliveryagents_table WHERE On_Time_Delivery_Percentage &lt; 80ORDER BY On_Time_Delivery_Percentage ASC;</a:t>
            </a:r>
          </a:p>
          <a:p>
            <a:endParaRPr lang="en-IN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5792EE-C397-4872-8856-991648A7C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312" y="3800925"/>
            <a:ext cx="9748190" cy="2767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647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ED7BB-6258-4300-AFAB-CE4A69C83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avg speed of Top 5 vs Bottom 5 agents using subqueries</a:t>
            </a:r>
            <a:endParaRPr lang="en-IN" dirty="0">
              <a:solidFill>
                <a:srgbClr val="00B0F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4BF99-7436-4144-B3B8-A2BDBA79D6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4395151"/>
          </a:xfrm>
        </p:spPr>
        <p:txBody>
          <a:bodyPr>
            <a:normAutofit/>
          </a:bodyPr>
          <a:lstStyle/>
          <a:p>
            <a:r>
              <a:rPr lang="en-IN" sz="1800" dirty="0"/>
              <a:t>SELECT 'Top 5 Agents (Best On-Time %)' AS Agent_Group, ROUND(AVG(Avg_Speed_KMPH), 2) AS Avg_Speed_KMPH FROM (SELECT Avg_Speed_KMPH FROM deliveryagents_table ORDER BY On_Time_Delivery_Percentage DESC LIMIT 5) top5 UNION ALL SELECT 'Bottom 5 Agents (Worst On-Time %)'  AS Agent_Group, ROUND(AVG(Avg_Speed_KMPH), 2) AS Avg_Speed_KMPH FROM (SELECT Avg_Speed_KMPH  FROM deliveryagents_table ORDER BY On_Time_Delivery_Percentage ASC LIMIT 5) bottom5;</a:t>
            </a:r>
          </a:p>
          <a:p>
            <a:endParaRPr lang="en-IN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363C21-1C83-4ADF-840E-EDDB1276F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418" y="4433836"/>
            <a:ext cx="3982006" cy="73352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266C066-8650-4DBC-93FA-CF142F8BAFA8}"/>
              </a:ext>
            </a:extLst>
          </p:cNvPr>
          <p:cNvSpPr/>
          <p:nvPr/>
        </p:nvSpPr>
        <p:spPr>
          <a:xfrm>
            <a:off x="1200539" y="5247740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FFFF00"/>
                </a:solidFill>
                <a:highlight>
                  <a:srgbClr val="0000FF"/>
                </a:highlight>
                <a:latin typeface="Anthropic Sans"/>
              </a:rPr>
              <a:t>KEY INSIGHTS- </a:t>
            </a:r>
            <a:r>
              <a:rPr lang="en-US" dirty="0">
                <a:solidFill>
                  <a:srgbClr val="FFFF00"/>
                </a:solidFill>
                <a:latin typeface="Anthropic Sans"/>
              </a:rPr>
              <a:t>Bottom agents drive </a:t>
            </a:r>
            <a:r>
              <a:rPr lang="en-US" b="1" dirty="0">
                <a:solidFill>
                  <a:srgbClr val="FFFF00"/>
                </a:solidFill>
                <a:latin typeface="Anthropic Sans"/>
              </a:rPr>
              <a:t>FASTER</a:t>
            </a:r>
            <a:r>
              <a:rPr lang="en-US" dirty="0">
                <a:solidFill>
                  <a:srgbClr val="FFFF00"/>
                </a:solidFill>
                <a:latin typeface="Anthropic Sans"/>
              </a:rPr>
              <a:t> (46.14 kmph) than top agents (44.08 kmph). Speed is NOT the problem — they are rushing deliveries and skipping proper handover steps. The solution is accuracy training, not speed improvement</a:t>
            </a:r>
            <a:endParaRPr lang="en-IN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21703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302EA-7B5E-4436-A6AC-78042418B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B0F0"/>
                </a:solidFill>
              </a:rPr>
              <a:t>Suggestions for Low Performers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8D07E-DC76-464F-B4BA-90747D95A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4195481"/>
          </a:xfrm>
        </p:spPr>
        <p:txBody>
          <a:bodyPr>
            <a:normAutofit/>
          </a:bodyPr>
          <a:lstStyle/>
          <a:p>
            <a:r>
              <a:rPr lang="en-US" sz="1400" b="1" dirty="0">
                <a:solidFill>
                  <a:srgbClr val="92D050"/>
                </a:solidFill>
              </a:rPr>
              <a:t>1. Agents who are Critical (below 73%) with high experience (5+ years)</a:t>
            </a:r>
            <a:r>
              <a:rPr lang="en-US" sz="1400" dirty="0">
                <a:solidFill>
                  <a:srgbClr val="92D050"/>
                </a:solidFill>
              </a:rPr>
              <a:t> </a:t>
            </a:r>
            <a:r>
              <a:rPr lang="en-US" sz="1400" dirty="0"/>
              <a:t>→ AG_006 (9.4 yrs), AG_019 (8.3 yrs), AG_004 (6.6 yrs), AG_035 (6.0 yrs), AG_014 (9.4 yrs)</a:t>
            </a:r>
            <a:r>
              <a:rPr lang="en-US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Suggestion</a:t>
            </a:r>
            <a:r>
              <a:rPr lang="en-US" sz="1400" b="1" dirty="0"/>
              <a:t>:</a:t>
            </a:r>
            <a:r>
              <a:rPr lang="en-US" sz="1400" dirty="0"/>
              <a:t> These agents are experienced but underperforming — reassign them to shorter or less congested routes (like RT_10, RT_11 which have 0% delay) instead of training.</a:t>
            </a:r>
          </a:p>
          <a:p>
            <a:r>
              <a:rPr lang="en-US" sz="1400" b="1" dirty="0">
                <a:solidFill>
                  <a:srgbClr val="92D050"/>
                </a:solidFill>
              </a:rPr>
              <a:t>2. Agents who are Critical with low experience (below 3 years)</a:t>
            </a:r>
            <a:r>
              <a:rPr lang="en-US" sz="1400" dirty="0">
                <a:solidFill>
                  <a:srgbClr val="92D050"/>
                </a:solidFill>
              </a:rPr>
              <a:t> </a:t>
            </a:r>
            <a:r>
              <a:rPr lang="en-US" sz="1400" dirty="0"/>
              <a:t>→ AG_026 (2.7 yrs) </a:t>
            </a:r>
            <a:r>
              <a:rPr lang="en-US" sz="1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Suggestion:</a:t>
            </a:r>
            <a:r>
              <a:rPr lang="en-US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400" dirty="0"/>
              <a:t>Enroll in a structured delivery training program and pair with a top-performing agent on the same route before working independently.</a:t>
            </a:r>
          </a:p>
          <a:p>
            <a:r>
              <a:rPr lang="en-IN" sz="1400" b="1" dirty="0">
                <a:solidFill>
                  <a:srgbClr val="92D050"/>
                </a:solidFill>
              </a:rPr>
              <a:t>3. Agents driving too fast (above 48 kmph) but delivering poorly</a:t>
            </a:r>
            <a:r>
              <a:rPr lang="en-IN" sz="1400" dirty="0">
                <a:solidFill>
                  <a:srgbClr val="92D050"/>
                </a:solidFill>
              </a:rPr>
              <a:t> </a:t>
            </a:r>
            <a:r>
              <a:rPr lang="en-IN" sz="1400" dirty="0"/>
              <a:t>→ AG_019 (52.5 kmph), AG_026 (54.2 kmph), AG_008 (50.3 kmph), AG_002 (48.6 kmph) </a:t>
            </a:r>
            <a:r>
              <a:rPr lang="en-IN" sz="1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Suggestion:</a:t>
            </a:r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IN" sz="1400" dirty="0"/>
              <a:t>Speed is not the problem — accuracy is. Enforce a maximum speed policy and focus training on proper handover, customer confirmation, and proof-of-delivery steps.</a:t>
            </a:r>
          </a:p>
          <a:p>
            <a:r>
              <a:rPr lang="en-US" sz="1400" b="1" dirty="0">
                <a:solidFill>
                  <a:srgbClr val="92D050"/>
                </a:solidFill>
              </a:rPr>
              <a:t>4</a:t>
            </a:r>
            <a:r>
              <a:rPr lang="en-US" sz="1400" dirty="0">
                <a:solidFill>
                  <a:srgbClr val="92D050"/>
                </a:solidFill>
              </a:rPr>
              <a:t>.</a:t>
            </a:r>
            <a:r>
              <a:rPr lang="en-US" sz="1400" b="1" dirty="0">
                <a:solidFill>
                  <a:srgbClr val="92D050"/>
                </a:solidFill>
              </a:rPr>
              <a:t>General workload balancing</a:t>
            </a:r>
          </a:p>
          <a:p>
            <a:r>
              <a:rPr lang="en-US" sz="1400" dirty="0"/>
              <a:t>→ RT_18 has 2 low performers (AG_008 and AG_012) on the same route</a:t>
            </a:r>
          </a:p>
          <a:p>
            <a:r>
              <a:rPr lang="en-US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Suggestion: </a:t>
            </a:r>
            <a:r>
              <a:rPr lang="en-US" sz="1400" dirty="0"/>
              <a:t>Redistribute orders from overloaded routes to better-performing routes. Use the on-time % data monthly to rotate agents across routes and prevent burnout.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6225370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9DEE2-CBE3-4D25-92A1-B71AEA81A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Task 6: Shipment Tracking Analytics </a:t>
            </a:r>
            <a:endParaRPr lang="en-IN" dirty="0">
              <a:solidFill>
                <a:srgbClr val="00B0F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4E7EF-A066-4721-86F5-30398E234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800" dirty="0">
                <a:solidFill>
                  <a:srgbClr val="FFC000"/>
                </a:solidFill>
              </a:rPr>
              <a:t>For each order,</a:t>
            </a:r>
            <a:r>
              <a:rPr lang="en-US" sz="1800" dirty="0">
                <a:solidFill>
                  <a:srgbClr val="FFC000"/>
                </a:solidFill>
              </a:rPr>
              <a:t> the last checkpoint and time.</a:t>
            </a:r>
            <a:endParaRPr lang="en-US" sz="1400" dirty="0"/>
          </a:p>
          <a:p>
            <a:r>
              <a:rPr lang="en-US" sz="1400" dirty="0"/>
              <a:t>WITH RankedCheckpoints AS (SELECT Order_ID,Checkpoint,Checkpoint_Time,Delay_Reason,Delay_Minutes,ROW_NUMBER() OVER (PARTITION BY Order_ID ORDER BY Checkpoint_Time DESC ) AS rn FROM </a:t>
            </a:r>
            <a:r>
              <a:rPr lang="en-US" sz="1400" dirty="0" err="1"/>
              <a:t>shipmenttracking_table</a:t>
            </a:r>
            <a:r>
              <a:rPr lang="en-US" sz="1400" dirty="0"/>
              <a:t>)SELECT  Order_ID, Checkpoint  AS Last_Checkpoint, Checkpoint_Time AS Last_Checkpoint_Time,Delay_Reason,Delay_Minutes FROM RankedCheckpoints WHERE rn = 1 ORDER BY Order_ID;</a:t>
            </a:r>
          </a:p>
          <a:p>
            <a:endParaRPr lang="en-IN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8BC747-F768-4DAE-B803-70EF5451A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866" y="3806890"/>
            <a:ext cx="6211167" cy="2273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3292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3F5D7-5268-438D-BA94-1857B757D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The most common delay reasons</a:t>
            </a:r>
            <a:endParaRPr lang="en-IN" dirty="0">
              <a:solidFill>
                <a:srgbClr val="00B0F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7165C-A214-46D6-8B08-5953AA510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SELECT Delay_Reason, COUNT(*) AS Occurrences,  SUM(Delay_Minutes) AS Total_Delay_Minutes, ROUND(AVG(Delay_Minutes), 2)  AS Avg_Delay_Per_Incident,RANK() OVER (ORDER BY COUNT(*) DESC) AS Frequency_Rank FROM shipmenttracking_table WHERE Delay_Reason IS NOT NULL AND UPPER(TRIM(Delay_Reason)) != 'NONE' GROUP BY Delay_Reason ORDER BY Occurrences DESC;</a:t>
            </a:r>
          </a:p>
          <a:p>
            <a:endParaRPr lang="en-US" sz="1600" dirty="0"/>
          </a:p>
          <a:p>
            <a:endParaRPr lang="en-IN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D30E64-087A-4242-9C06-21710E8EB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638" y="3540969"/>
            <a:ext cx="6754168" cy="136226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2A13803-E31E-4908-A46A-B0E5D32954B7}"/>
              </a:ext>
            </a:extLst>
          </p:cNvPr>
          <p:cNvSpPr/>
          <p:nvPr/>
        </p:nvSpPr>
        <p:spPr>
          <a:xfrm>
            <a:off x="1384638" y="5048070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FFFF00"/>
                </a:solidFill>
                <a:latin typeface="Anthropic Sans"/>
              </a:rPr>
              <a:t> KEY INSIGHTS:- Traffic is the #1 cause of delays — 387 occurrences adding up to 26,593 total minutes of delay. That's 443 hours lost just due to traffic. Real-time route rerouting during peak hours would significantly reduce this.</a:t>
            </a:r>
            <a:endParaRPr lang="en-IN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5233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E4245-BE85-4448-90C8-BF46E818B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orders with &gt;2 delayed checkpoints</a:t>
            </a:r>
            <a:endParaRPr lang="en-IN" dirty="0">
              <a:solidFill>
                <a:srgbClr val="00B0F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A7EF6-5521-44AB-A1C0-6F17752A53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SELECT Order_ID,COUNT(*) AS Total_Checkpoints, SUM(CASE WHEN Delay_Minutes &gt; 0 THEN 1 ELSE 0 END) AS Delayed_Checkpoints,SUM(Delay_Minutes) AS Total_Delay_Minutes FROM shipmenttracking_table GROUP BY Order_ID HAVING SUM(CASE WHEN Delay_Minutes &gt; 0 THEN 1 ELSE 0 END) &gt; 2 ORDER BY Delayed_Checkpoints DESC;</a:t>
            </a:r>
          </a:p>
          <a:p>
            <a:endParaRPr lang="en-IN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7EA66C-E894-4303-9727-BFA70DCDC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740" y="3345811"/>
            <a:ext cx="5544324" cy="264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1025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6CB5D-3E43-49CD-83E1-47C3D6A0B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Task 7: Advanced KPI Reporting </a:t>
            </a:r>
            <a:endParaRPr lang="en-IN" dirty="0">
              <a:solidFill>
                <a:srgbClr val="00B0F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705CA-4737-4F85-9416-08183EA85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92D050"/>
                </a:solidFill>
              </a:rPr>
              <a:t>Average Delivery Delay per Region (Start_Location)</a:t>
            </a:r>
          </a:p>
          <a:p>
            <a:r>
              <a:rPr lang="en-IN" sz="1600" dirty="0"/>
              <a:t>SELECT r.Start_Location AS Region,COUNT(o.Order_ID)  AS Total_Orders,ROUND(AVG(DATEDIFF(o.Actual_Delivery_Date, o.Expected_Delivery_Date)),2)  AS Avg_Delay_Days,SUM(CASE WHEN DATEDIFF(o.Actual_Delivery_Date,o.Expected_Delivery_Date) &gt; 0 THEN 1 ELSE 0 END) AS Delayed_Orders,ROUND(100.0 * SUM(CASE WHEN DATEDIFF(o.Actual_Delivery_Date,o.Expected_Delivery_Date) &lt;= 0 THEN 1 ELSE 0 END) / COUNT(o.Order_ID), 2) AS OnTime_Pct FROM orders_table o JOIN routes_table r ON o.Route_ID = r.Route_ID GROUP BY r.Start_Location ORDER BY Avg_Delay_Days DESC;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0E322B-36B7-4D3F-834B-AA51B8A8D2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389" y="4579930"/>
            <a:ext cx="5611008" cy="195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1496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1B3A3-1F4B-48F1-B1FE-5E0197967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B0F0"/>
                </a:solidFill>
              </a:rPr>
              <a:t>On-Time Delivery %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7F311-242B-40DE-A810-D85502D65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80910"/>
            <a:ext cx="8946541" cy="4195481"/>
          </a:xfrm>
        </p:spPr>
        <p:txBody>
          <a:bodyPr>
            <a:normAutofit/>
          </a:bodyPr>
          <a:lstStyle/>
          <a:p>
            <a:r>
              <a:rPr lang="en-US" sz="1600" dirty="0"/>
              <a:t>SELECT COUNT(*) AS Total_Deliveries,SUM(CASE WHEN DATEDIFF(Actual_Delivery_Date,Expected_Delivery_Date) &lt;= 0 THEN 1 ELSE 0 END) AS OnTime_Deliveries,SUM(CASE WHEN DATEDIFF(Actual_Delivery_Date,Expected_Delivery_Date) &gt; 0  THEN 1 ELSE 0 END) AS Delayed_Deliveries,ROUND(100.0 * SUM(CASE WHEN DATEDIFF(Actual_Delivery_Date,Expected_Delivery_Date) &lt;= 0THEN 1 ELSE 0 END) / COUNT(*), 2) AS OnTime_Delivery_Pct FROM orders_table;</a:t>
            </a:r>
          </a:p>
          <a:p>
            <a:endParaRPr lang="en-IN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3DC6BA-64B3-4D6C-8382-23B6F617C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596" y="3829173"/>
            <a:ext cx="5811061" cy="100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139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43139-F9CF-4F72-931F-ADEEF0158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B0F0"/>
                </a:solidFill>
              </a:rPr>
              <a:t>Average Traffic Delay per Route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FB098-8913-4AEA-A28A-4BE6D9471A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SELECT Route_ID, Start_Location, End_Location, Traffic_Delay_Min AS Avg_Traffic_Delay_Min, RANK() OVER (ORDER BY Traffic_Delay_Min DESC) AS Delay_Rank, CASE WHEN Traffic_Delay_Min &gt;= 80 THEN 'High Traffic Impact' WHEN Traffic_Delay_Min &gt;= 50 THEN 'Medium Traffic Impact' ELSE 'Low Traffic Impact' END AS Traffic_Category FROM routes_table ORDER BY Traffic_Delay_Min DESC;</a:t>
            </a:r>
          </a:p>
          <a:p>
            <a:endParaRPr lang="en-IN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5D2EBB-990F-4C52-A3D5-CB12191FC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619" y="3429000"/>
            <a:ext cx="7268589" cy="246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7880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4393</TotalTime>
  <Words>3178</Words>
  <Application>Microsoft Office PowerPoint</Application>
  <PresentationFormat>Widescreen</PresentationFormat>
  <Paragraphs>277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Anthropic Sans</vt:lpstr>
      <vt:lpstr>Arial</vt:lpstr>
      <vt:lpstr>Calibri</vt:lpstr>
      <vt:lpstr>Times New Roman</vt:lpstr>
      <vt:lpstr>Wingdings 3</vt:lpstr>
      <vt:lpstr>Ion</vt:lpstr>
      <vt:lpstr>FLIPKART LOGISTICS OPTIMIZATION FOR DELIVERY ROUTES </vt:lpstr>
      <vt:lpstr>PROJECT OVERVIEW</vt:lpstr>
      <vt:lpstr>Data Cleaning &amp; Preparation</vt:lpstr>
      <vt:lpstr>Task 2:Delivery Delay Calculation</vt:lpstr>
      <vt:lpstr>Top Delayed Orders</vt:lpstr>
      <vt:lpstr>Top Delayed Routes</vt:lpstr>
      <vt:lpstr>Warehouse Performance Analysis</vt:lpstr>
      <vt:lpstr>Key Insights:</vt:lpstr>
      <vt:lpstr>Task 3: Route Optimization Insights</vt:lpstr>
      <vt:lpstr>Average Delivery Time</vt:lpstr>
      <vt:lpstr>Average Traffic Delay</vt:lpstr>
      <vt:lpstr>Efficiency Ratio </vt:lpstr>
      <vt:lpstr>Worst 3 Routes (Efficiency)</vt:lpstr>
      <vt:lpstr>Routes with &gt;20% Delayed Shipments</vt:lpstr>
      <vt:lpstr>FINAL RECOMMENDATIONS</vt:lpstr>
      <vt:lpstr>TASK:4~Warehouse Performance Analysis</vt:lpstr>
      <vt:lpstr>Total vs Delayed Shipments per Warehouse</vt:lpstr>
      <vt:lpstr>Bottleneck warehouses (bottleneck warehouses )</vt:lpstr>
      <vt:lpstr>Rank warehouses based on on-time delivery percentage</vt:lpstr>
      <vt:lpstr>KEY INSIGHTS ( Warehouse Performance)</vt:lpstr>
      <vt:lpstr>Task 5: Delivery Agent Performance</vt:lpstr>
      <vt:lpstr>Agents with on-time % &lt; 80%</vt:lpstr>
      <vt:lpstr>avg speed of Top 5 vs Bottom 5 agents using subqueries</vt:lpstr>
      <vt:lpstr>Suggestions for Low Performers</vt:lpstr>
      <vt:lpstr>Task 6: Shipment Tracking Analytics </vt:lpstr>
      <vt:lpstr>The most common delay reasons</vt:lpstr>
      <vt:lpstr>orders with &gt;2 delayed checkpoints</vt:lpstr>
      <vt:lpstr>Task 7: Advanced KPI Reporting </vt:lpstr>
      <vt:lpstr>On-Time Delivery %</vt:lpstr>
      <vt:lpstr>Average Traffic Delay per Route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Logistics Delivery Performance Analysis</dc:title>
  <dc:creator>k4kam</dc:creator>
  <cp:lastModifiedBy>k4kam</cp:lastModifiedBy>
  <cp:revision>44</cp:revision>
  <dcterms:created xsi:type="dcterms:W3CDTF">2026-04-30T17:23:46Z</dcterms:created>
  <dcterms:modified xsi:type="dcterms:W3CDTF">2026-05-03T19:18:53Z</dcterms:modified>
</cp:coreProperties>
</file>